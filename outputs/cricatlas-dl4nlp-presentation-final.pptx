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847ac204ee4e07" /><Relationship Type="http://schemas.openxmlformats.org/officeDocument/2006/relationships/extended-properties" Target="/docProps/app.xml" Id="R5e77ce2c04be4806" /><Relationship Type="http://schemas.openxmlformats.org/officeDocument/2006/relationships/officeDocument" Target="/ppt/presentation.xml" Id="R08a15054a224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a75634c5494018"/>
  </p:sldMasterIdLst>
  <p:notesMasterIdLst>
    <p:notesMasterId xmlns:r="http://schemas.openxmlformats.org/officeDocument/2006/relationships" r:id="R4c69da7954294862"/>
  </p:notesMasterIdLst>
  <p:sldIdLst>
    <p:sldId xmlns:r="http://schemas.openxmlformats.org/officeDocument/2006/relationships" id="256" r:id="R9c9d60991c084103"/>
    <p:sldId xmlns:r="http://schemas.openxmlformats.org/officeDocument/2006/relationships" id="257" r:id="Rc04be1093a3b4723"/>
    <p:sldId xmlns:r="http://schemas.openxmlformats.org/officeDocument/2006/relationships" id="258" r:id="R04d9710693f74121"/>
    <p:sldId xmlns:r="http://schemas.openxmlformats.org/officeDocument/2006/relationships" id="259" r:id="Rd09eb0a7fe92442d"/>
    <p:sldId xmlns:r="http://schemas.openxmlformats.org/officeDocument/2006/relationships" id="260" r:id="Rf48662fc234740c8"/>
    <p:sldId xmlns:r="http://schemas.openxmlformats.org/officeDocument/2006/relationships" id="261" r:id="R8ec1f5a827504634"/>
    <p:sldId xmlns:r="http://schemas.openxmlformats.org/officeDocument/2006/relationships" id="262" r:id="Rfff3101c07024f81"/>
    <p:sldId xmlns:r="http://schemas.openxmlformats.org/officeDocument/2006/relationships" id="263" r:id="R3c0b831ef5ca465e"/>
    <p:sldId xmlns:r="http://schemas.openxmlformats.org/officeDocument/2006/relationships" id="264" r:id="R521f9797f99e42fc"/>
    <p:sldId xmlns:r="http://schemas.openxmlformats.org/officeDocument/2006/relationships" id="265" r:id="Rc42bb68048a44483"/>
    <p:sldId xmlns:r="http://schemas.openxmlformats.org/officeDocument/2006/relationships" id="266" r:id="R47f3280485bc43c3"/>
    <p:sldId xmlns:r="http://schemas.openxmlformats.org/officeDocument/2006/relationships" id="267" r:id="Ra01cf88de2ca4a75"/>
    <p:sldId xmlns:r="http://schemas.openxmlformats.org/officeDocument/2006/relationships" id="268" r:id="Re2aa7f10445145c5"/>
    <p:sldId xmlns:r="http://schemas.openxmlformats.org/officeDocument/2006/relationships" id="269" r:id="R61a7c1cd98a94bce"/>
    <p:sldId xmlns:r="http://schemas.openxmlformats.org/officeDocument/2006/relationships" id="270" r:id="R345e6135ac3a4b07"/>
    <p:sldId xmlns:r="http://schemas.openxmlformats.org/officeDocument/2006/relationships" id="271" r:id="Rcdf99d4b69304bf6"/>
    <p:sldId xmlns:r="http://schemas.openxmlformats.org/officeDocument/2006/relationships" id="272" r:id="Rd46e50fcaf004b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e08060e4541ae" /><Relationship Type="http://schemas.openxmlformats.org/officeDocument/2006/relationships/slideMaster" Target="/ppt/slideMasters/slideMaster1.xml" Id="R4aa75634c5494018" /><Relationship Type="http://schemas.openxmlformats.org/officeDocument/2006/relationships/notesMaster" Target="/ppt/notesMasters/notesMaster1.xml" Id="R4c69da7954294862" /><Relationship Type="http://schemas.openxmlformats.org/officeDocument/2006/relationships/presProps" Target="/ppt/presProps.xml" Id="R662bb35779b34e18" /><Relationship Type="http://schemas.openxmlformats.org/officeDocument/2006/relationships/tableStyles" Target="/ppt/tableStyles.xml" Id="R53dece0994ba4ce8" /><Relationship Type="http://schemas.openxmlformats.org/officeDocument/2006/relationships/slide" Target="/ppt/slides/slide1.xml" Id="R9c9d60991c084103" /><Relationship Type="http://schemas.openxmlformats.org/officeDocument/2006/relationships/slide" Target="/ppt/slides/slide2.xml" Id="Rc04be1093a3b4723" /><Relationship Type="http://schemas.openxmlformats.org/officeDocument/2006/relationships/slide" Target="/ppt/slides/slide3.xml" Id="R04d9710693f74121" /><Relationship Type="http://schemas.openxmlformats.org/officeDocument/2006/relationships/slide" Target="/ppt/slides/slide4.xml" Id="Rd09eb0a7fe92442d" /><Relationship Type="http://schemas.openxmlformats.org/officeDocument/2006/relationships/slide" Target="/ppt/slides/slide5.xml" Id="Rf48662fc234740c8" /><Relationship Type="http://schemas.openxmlformats.org/officeDocument/2006/relationships/slide" Target="/ppt/slides/slide6.xml" Id="R8ec1f5a827504634" /><Relationship Type="http://schemas.openxmlformats.org/officeDocument/2006/relationships/slide" Target="/ppt/slides/slide7.xml" Id="Rfff3101c07024f81" /><Relationship Type="http://schemas.openxmlformats.org/officeDocument/2006/relationships/slide" Target="/ppt/slides/slide8.xml" Id="R3c0b831ef5ca465e" /><Relationship Type="http://schemas.openxmlformats.org/officeDocument/2006/relationships/slide" Target="/ppt/slides/slide9.xml" Id="R521f9797f99e42fc" /><Relationship Type="http://schemas.openxmlformats.org/officeDocument/2006/relationships/slide" Target="/ppt/slides/slide10.xml" Id="Rc42bb68048a44483" /><Relationship Type="http://schemas.openxmlformats.org/officeDocument/2006/relationships/slide" Target="/ppt/slides/slide11.xml" Id="R47f3280485bc43c3" /><Relationship Type="http://schemas.openxmlformats.org/officeDocument/2006/relationships/slide" Target="/ppt/slides/slide12.xml" Id="Ra01cf88de2ca4a75" /><Relationship Type="http://schemas.openxmlformats.org/officeDocument/2006/relationships/slide" Target="/ppt/slides/slide13.xml" Id="Re2aa7f10445145c5" /><Relationship Type="http://schemas.openxmlformats.org/officeDocument/2006/relationships/slide" Target="/ppt/slides/slide14.xml" Id="R61a7c1cd98a94bce" /><Relationship Type="http://schemas.openxmlformats.org/officeDocument/2006/relationships/slide" Target="/ppt/slides/slide15.xml" Id="R345e6135ac3a4b07" /><Relationship Type="http://schemas.openxmlformats.org/officeDocument/2006/relationships/slide" Target="/ppt/slides/slide16.xml" Id="Rcdf99d4b69304bf6" /><Relationship Type="http://schemas.openxmlformats.org/officeDocument/2006/relationships/slide" Target="/ppt/slides/slide17.xml" Id="Rd46e50fcaf004b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6236960f1e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42a633466a485c" /><Relationship Type="http://schemas.openxmlformats.org/officeDocument/2006/relationships/notesMaster" Target="/ppt/notesMasters/notesMaster1.xml" Id="Rf6e3d48b5bef49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cab69705b14fd2" /><Relationship Type="http://schemas.openxmlformats.org/officeDocument/2006/relationships/notesMaster" Target="/ppt/notesMasters/notesMaster1.xml" Id="R4035ccc9c4a2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9f1e3d75ba4f38" /><Relationship Type="http://schemas.openxmlformats.org/officeDocument/2006/relationships/notesMaster" Target="/ppt/notesMasters/notesMaster1.xml" Id="R46616efbfb4646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96a92a61d4593" /><Relationship Type="http://schemas.openxmlformats.org/officeDocument/2006/relationships/notesMaster" Target="/ppt/notesMasters/notesMaster1.xml" Id="R7f5ffa5d6d8d44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ec10aa6e5d41c2" /><Relationship Type="http://schemas.openxmlformats.org/officeDocument/2006/relationships/notesMaster" Target="/ppt/notesMasters/notesMaster1.xml" Id="R5ee8dce9d3f148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a2bc41dc1540ef" /><Relationship Type="http://schemas.openxmlformats.org/officeDocument/2006/relationships/notesMaster" Target="/ppt/notesMasters/notesMaster1.xml" Id="R58143e79475e40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659833ae9e49fe" /><Relationship Type="http://schemas.openxmlformats.org/officeDocument/2006/relationships/notesMaster" Target="/ppt/notesMasters/notesMaster1.xml" Id="R13871753913a4d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10ac39e535463a" /><Relationship Type="http://schemas.openxmlformats.org/officeDocument/2006/relationships/notesMaster" Target="/ppt/notesMasters/notesMaster1.xml" Id="R7893e546b5094d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0067e258e141fa" /><Relationship Type="http://schemas.openxmlformats.org/officeDocument/2006/relationships/notesMaster" Target="/ppt/notesMasters/notesMaster1.xml" Id="Rf8058b34405447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94a9b5e5024d1c" /><Relationship Type="http://schemas.openxmlformats.org/officeDocument/2006/relationships/notesMaster" Target="/ppt/notesMasters/notesMaster1.xml" Id="Rde11863be69847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babd9502d241b7" /><Relationship Type="http://schemas.openxmlformats.org/officeDocument/2006/relationships/notesMaster" Target="/ppt/notesMasters/notesMaster1.xml" Id="Rc4744dd6f9a642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81809303844ac0" /><Relationship Type="http://schemas.openxmlformats.org/officeDocument/2006/relationships/notesMaster" Target="/ppt/notesMasters/notesMaster1.xml" Id="R171dc16276e042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96a3d0aed24e58" /><Relationship Type="http://schemas.openxmlformats.org/officeDocument/2006/relationships/notesMaster" Target="/ppt/notesMasters/notesMaster1.xml" Id="R8474ca420e7342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a3f2624e444023" /><Relationship Type="http://schemas.openxmlformats.org/officeDocument/2006/relationships/notesMaster" Target="/ppt/notesMasters/notesMaster1.xml" Id="Reae4725c0b994c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d6e9be5dad44f1" /><Relationship Type="http://schemas.openxmlformats.org/officeDocument/2006/relationships/notesMaster" Target="/ppt/notesMasters/notesMaster1.xml" Id="R7f3c5d14980844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8beccc8dd74e5d" /><Relationship Type="http://schemas.openxmlformats.org/officeDocument/2006/relationships/notesMaster" Target="/ppt/notesMasters/notesMaster1.xml" Id="Rb123c19280be4a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cf1ef186f84a3f" /><Relationship Type="http://schemas.openxmlformats.org/officeDocument/2006/relationships/notesMaster" Target="/ppt/notesMasters/notesMaster1.xml" Id="R30aa2958afe341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Samay | 35-40 seconds</a:t>
            </a:r>
          </a:p>
          <a:p xmlns:a="http://schemas.openxmlformats.org/drawingml/2006/main">
            <a:r>
              <a:t>- Task: cricket question -&gt; JSON query plan -&gt; DuckDB answer.</a:t>
            </a:r>
          </a:p>
          <a:p xmlns:a="http://schemas.openxmlformats.org/drawingml/2006/main">
            <a:r>
              <a:t>- Four model settings: Gemini, Qwen 4B, Qwen 9B, and QLoRA Qwen 9B.</a:t>
            </a:r>
          </a:p>
          <a:p xmlns:a="http://schemas.openxmlformats.org/drawingml/2006/main">
            <a:r>
              <a:t>- Goal: compare the models using one pipeline and one test set.</a:t>
            </a:r>
          </a:p>
          <a:p xmlns:a="http://schemas.openxmlformats.org/drawingml/2006/main">
            <a:r>
              <a:t>- The research question is whether a smaller open-source model can learn this structured cricket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Samay | 55-60 seconds</a:t>
            </a:r>
          </a:p>
          <a:p xmlns:a="http://schemas.openxmlformats.org/drawingml/2006/main">
            <a:r>
              <a:t>- Input: a natural-language cricket question.</a:t>
            </a:r>
          </a:p>
          <a:p xmlns:a="http://schemas.openxmlformats.org/drawingml/2006/main">
            <a:r>
              <a:t>- The model does not answer the cricket statistic directly.</a:t>
            </a:r>
          </a:p>
          <a:p xmlns:a="http://schemas.openxmlformats.org/drawingml/2006/main">
            <a:r>
              <a:t>- It predicts the complete JSON query plan.</a:t>
            </a:r>
          </a:p>
          <a:p xmlns:a="http://schemas.openxmlformats.org/drawingml/2006/main">
            <a:r>
              <a:t>- DuckDB calculates the numerical answer.</a:t>
            </a:r>
          </a:p>
          <a:p xmlns:a="http://schemas.openxmlformats.org/drawingml/2006/main">
            <a:r>
              <a:t>- Example: Kohli ODI runs -&gt; 13,950.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Samay | 55-60 seconds</a:t>
            </a:r>
          </a:p>
          <a:p xmlns:a="http://schemas.openxmlformats.org/drawingml/2006/main">
            <a:r>
              <a:t>- Question goes to the language model.</a:t>
            </a:r>
          </a:p>
          <a:p xmlns:a="http://schemas.openxmlformats.org/drawingml/2006/main">
            <a:r>
              <a:t>- The model returns a JSON query plan.</a:t>
            </a:r>
          </a:p>
          <a:p xmlns:a="http://schemas.openxmlformats.org/drawingml/2006/main">
            <a:r>
              <a:t>- CricAtlas standardizes names and cricket terms.</a:t>
            </a:r>
          </a:p>
          <a:p xmlns:a="http://schemas.openxmlformats.org/drawingml/2006/main">
            <a:r>
              <a:t>- Invalid plans receive one repair attempt.</a:t>
            </a:r>
          </a:p>
          <a:p xmlns:a="http://schemas.openxmlformats.org/drawingml/2006/main">
            <a:r>
              <a:t>- Valid plans are converted to SQL and executed on DuckDB.</a:t>
            </a:r>
          </a:p>
          <a:p xmlns:a="http://schemas.openxmlformats.org/drawingml/2006/main">
            <a:r>
              <a:t>- Only the language model changes in the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Samay | 65-75 seconds</a:t>
            </a:r>
          </a:p>
          <a:p xmlns:a="http://schemas.openxmlformats.org/drawingml/2006/main">
            <a:r>
              <a:t>- Version 1: the LLM generated SQL directly from a long prompt.</a:t>
            </a:r>
          </a:p>
          <a:p xmlns:a="http://schemas.openxmlformats.org/drawingml/2006/main">
            <a:r>
              <a:t>- Problem: small SQL mistakes could break the answer.</a:t>
            </a:r>
          </a:p>
          <a:p xmlns:a="http://schemas.openxmlformats.org/drawingml/2006/main">
            <a:r>
              <a:t>- Version 2: keyword rules made the system more controlled but too rigid.</a:t>
            </a:r>
          </a:p>
          <a:p xmlns:a="http://schemas.openxmlformats.org/drawingml/2006/main">
            <a:r>
              <a:t>- Version 3: Gemini returned a small JSON interpretation.</a:t>
            </a:r>
          </a:p>
          <a:p xmlns:a="http://schemas.openxmlformats.org/drawingml/2006/main">
            <a:r>
              <a:t>- Version 4: the full JSON plan, validation, repair, and fixed SQL were added.</a:t>
            </a:r>
          </a:p>
          <a:p xmlns:a="http://schemas.openxmlformats.org/drawingml/2006/main">
            <a:r>
              <a:t>- Each version solved a failure we found during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Samay | 60-70 seconds</a:t>
            </a:r>
          </a:p>
          <a:p xmlns:a="http://schemas.openxmlformats.org/drawingml/2006/main">
            <a:r>
              <a:t>- The prompt now requests strict JSON instead of SQL.</a:t>
            </a:r>
          </a:p>
          <a:p xmlns:a="http://schemas.openxmlformats.org/drawingml/2006/main">
            <a:r>
              <a:t>- The metric catalogue stores the cricket formulas and correct player role.</a:t>
            </a:r>
          </a:p>
          <a:p xmlns:a="http://schemas.openxmlformats.org/drawingml/2006/main">
            <a:r>
              <a:t>- Normalization handles aliases, spelling, phases, and bowling styles.</a:t>
            </a:r>
          </a:p>
          <a:p xmlns:a="http://schemas.openxmlformats.org/drawingml/2006/main">
            <a:r>
              <a:t>- Guardrails correct common role and operation mistakes.</a:t>
            </a:r>
          </a:p>
          <a:p xmlns:a="http://schemas.openxmlformats.org/drawingml/2006/main">
            <a:r>
              <a:t>- Invalid plans are rejected and repaired once.</a:t>
            </a:r>
          </a:p>
          <a:p xmlns:a="http://schemas.openxmlformats.org/drawingml/2006/main">
            <a:r>
              <a:t>- Fixed SQL code calculates the final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Samay | 55-60 seconds</a:t>
            </a:r>
          </a:p>
          <a:p xmlns:a="http://schemas.openxmlformats.org/drawingml/2006/main">
            <a:r>
              <a:t>- We first created 100 realistic, answerable ODI analyst questions without looking at whether CricAtlas would pass them.</a:t>
            </a:r>
          </a:p>
          <a:p xmlns:a="http://schemas.openxmlformats.org/drawingml/2006/main">
            <a:r>
              <a:t>- Six types: metrics, leaderboards, breakdowns, player comparisons, splits, matchups.</a:t>
            </a:r>
          </a:p>
          <a:p xmlns:a="http://schemas.openxmlformats.org/drawingml/2006/main">
            <a:r>
              <a:t>- For every question, we defined the intended core query plan.</a:t>
            </a:r>
          </a:p>
          <a:p xmlns:a="http://schemas.openxmlformats.org/drawingml/2006/main">
            <a:r>
              <a:t>- A script executed that reference plan on DuckDB to generate the database answer.</a:t>
            </a:r>
          </a:p>
          <a:p xmlns:a="http://schemas.openxmlformats.org/drawingml/2006/main">
            <a:r>
              <a:t>- This avoids asking an LLM to invent the answer key.</a:t>
            </a:r>
          </a:p>
          <a:p xmlns:a="http://schemas.openxmlformats.org/drawingml/2006/main">
            <a:r>
              <a:t>- Test questions are separate from fine-tuning data.</a:t>
            </a:r>
          </a:p>
          <a:p xmlns:a="http://schemas.openxmlformats.org/drawingml/2006/main">
            <a:r>
              <a:t>- The same file is used for Gemini, both base Qwen models, and fine-tuned Qwen.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Samay | 55-65 seconds</a:t>
            </a:r>
          </a:p>
          <a:p xmlns:a="http://schemas.openxmlformats.org/drawingml/2006/main">
            <a:r>
              <a:t>- We use full JSON exact-match accuracy.</a:t>
            </a:r>
          </a:p>
          <a:p xmlns:a="http://schemas.openxmlformats.org/drawingml/2006/main">
            <a:r>
              <a:t>- Put both plans into the same standard JSON format.</a:t>
            </a:r>
          </a:p>
          <a:p xmlns:a="http://schemas.openxmlformats.org/drawingml/2006/main">
            <a:r>
              <a:t>- Compare every field that controls query execution.</a:t>
            </a:r>
          </a:p>
          <a:p xmlns:a="http://schemas.openxmlformats.org/drawingml/2006/main">
            <a:r>
              <a:t>- A complete match gives one point; any difference gives zero.</a:t>
            </a:r>
          </a:p>
          <a:p xmlns:a="http://schemas.openxmlformats.org/drawingml/2006/main">
            <a:r>
              <a:t>- Spaces and JSON key order do not matter.</a:t>
            </a:r>
          </a:p>
          <a:p xmlns:a="http://schemas.openxmlformats.org/drawingml/2006/main">
            <a:r>
              <a:t>- There is no keyword matching and no partial credit.</a:t>
            </a:r>
          </a:p>
          <a:p xmlns:a="http://schemas.openxmlformats.org/drawingml/2006/main">
            <a:r>
              <a:t>- We still execute plans on DuckDB to inspect the complete system.</a:t>
            </a:r>
          </a:p>
          <a:p xmlns:a="http://schemas.openxmlformats.org/drawingml/2006/main">
            <a:r>
              <a:t>- If the stricter scorer changes 59, update the result before the final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Samay | 50-55 seconds</a:t>
            </a:r>
          </a:p>
          <a:p xmlns:a="http://schemas.openxmlformats.org/drawingml/2006/main">
            <a:r>
              <a:t>- CricAtlas + Gemini: 59 of 100 query plans matched exactly in the current run.</a:t>
            </a:r>
          </a:p>
          <a:p xmlns:a="http://schemas.openxmlformats.org/drawingml/2006/main">
            <a:r>
              <a:t>- Stronger categories: direct metrics, leaderboards, and breakdowns.</a:t>
            </a:r>
          </a:p>
          <a:p xmlns:a="http://schemas.openxmlformats.org/drawingml/2006/main">
            <a:r>
              <a:t>- Weakest categories: player comparisons and matchups.</a:t>
            </a:r>
          </a:p>
          <a:p xmlns:a="http://schemas.openxmlformats.org/drawingml/2006/main">
            <a:r>
              <a:t>- A comparison can fail by choosing aggregate instead of player_compare, confusing batter and bowler roles, or omitting one player.</a:t>
            </a:r>
          </a:p>
          <a:p xmlns:a="http://schemas.openxmlformats.org/drawingml/2006/main">
            <a:r>
              <a:t>- A matchup can fail when the model treats two players as a general comparison instead of a batter-bowler pair.</a:t>
            </a:r>
          </a:p>
          <a:p xmlns:a="http://schemas.openxmlformats.org/drawingml/2006/main">
            <a:r>
              <a:t>- The benchmark exposes real failures instead of making the system look perfect.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Hanny | 45-50 seconds</a:t>
            </a:r>
          </a:p>
          <a:p xmlns:a="http://schemas.openxmlformats.org/drawingml/2006/main">
            <a:r>
              <a:t>- Tested Qwen 3.5 9B and the smaller Qwen 3.5 4B.</a:t>
            </a:r>
          </a:p>
          <a:p xmlns:a="http://schemas.openxmlformats.org/drawingml/2006/main">
            <a:r>
              <a:t>- Both models use 4-bit quantization and no fine-tuning.</a:t>
            </a:r>
          </a:p>
          <a:p xmlns:a="http://schemas.openxmlformats.org/drawingml/2006/main">
            <a:r>
              <a:t>- Both receive the same 100 questions and JSON instructions.</a:t>
            </a:r>
          </a:p>
          <a:p xmlns:a="http://schemas.openxmlformats.org/drawingml/2006/main">
            <a:r>
              <a:t>- The comparison shows the effect of model 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Hanny | 55-60 seconds</a:t>
            </a:r>
          </a:p>
          <a:p xmlns:a="http://schemas.openxmlformats.org/drawingml/2006/main">
            <a:r>
              <a:t>- Two model sizes; temperature 0 and 512 output tokens.</a:t>
            </a:r>
          </a:p>
          <a:p xmlns:a="http://schemas.openxmlformats.org/drawingml/2006/main">
            <a:r>
              <a:t>- Generate one JSON plan for every question.</a:t>
            </a:r>
          </a:p>
          <a:p xmlns:a="http://schemas.openxmlformats.org/drawingml/2006/main">
            <a:r>
              <a:t>- Validate plan -&gt; execute SQL -&gt; save answer.</a:t>
            </a:r>
          </a:p>
          <a:p xmlns:a="http://schemas.openxmlformats.org/drawingml/2006/main">
            <a:r>
              <a:t>- Compare each plan with the correct reference plan.</a:t>
            </a:r>
          </a:p>
          <a:p xmlns:a="http://schemas.openxmlformats.org/drawingml/2006/main">
            <a:r>
              <a:t>- Keep the rest of CricAtlas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Hanny | 50-55 seconds</a:t>
            </a:r>
          </a:p>
          <a:p xmlns:a="http://schemas.openxmlformats.org/drawingml/2006/main">
            <a:r>
              <a:t>- Working comparison: 9B scored 43/100; 4B scored 34/100.</a:t>
            </a:r>
          </a:p>
          <a:p xmlns:a="http://schemas.openxmlformats.org/drawingml/2006/main">
            <a:r>
              <a:t>- The larger model produced nine more correct plans.</a:t>
            </a:r>
          </a:p>
          <a:p xmlns:a="http://schemas.openxmlformats.org/drawingml/2006/main">
            <a:r>
              <a:t>- The 4B model made more mistakes with metrics and filters.</a:t>
            </a:r>
          </a:p>
          <a:p xmlns:a="http://schemas.openxmlformats.org/drawingml/2006/main">
            <a:r>
              <a:t>- Replace these working values if the scorer output differs.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Questions Hanny may be asked:</a:t>
            </a:r>
          </a:p>
          <a:p xmlns:a="http://schemas.openxmlformats.org/drawingml/2006/main">
            <a:r>
              <a:t>Q: Why test two Qwen sizes?</a:t>
            </a:r>
          </a:p>
          <a:p xmlns:a="http://schemas.openxmlformats.org/drawingml/2006/main">
            <a:r>
              <a:t>A: To measure the effect of model size while keeping everything else the same.</a:t>
            </a:r>
          </a:p>
          <a:p xmlns:a="http://schemas.openxmlformats.org/drawingml/2006/main">
            <a:r>
              <a:t>Q: Was base Qwen trained on cricket examples?</a:t>
            </a:r>
          </a:p>
          <a:p xmlns:a="http://schemas.openxmlformats.org/drawingml/2006/main">
            <a:r>
              <a:t>A: No. It was tested zero-shot using instructions and the JSON format.</a:t>
            </a:r>
          </a:p>
          <a:p xmlns:a="http://schemas.openxmlformats.org/drawingml/2006/main">
            <a:r>
              <a:t>Q: What stayed unchanged?</a:t>
            </a:r>
          </a:p>
          <a:p xmlns:a="http://schemas.openxmlformats.org/drawingml/2006/main">
            <a:r>
              <a:t>A: Questions, prompt task, validation, SQL, database, and scoring.</a:t>
            </a:r>
          </a:p>
          <a:p xmlns:a="http://schemas.openxmlformats.org/drawingml/2006/main">
            <a:r>
              <a:t>Q: Why did 9B perform better?</a:t>
            </a:r>
          </a:p>
          <a:p xmlns:a="http://schemas.openxmlformats.org/drawingml/2006/main">
            <a:r>
              <a:t>A: It has more capacity to understand varied wording and follow JSON instructions.</a:t>
            </a:r>
          </a:p>
          <a:p xmlns:a="http://schemas.openxmlformats.org/drawingml/2006/main">
            <a:r>
              <a:t>Q: What mistakes did Qwen make?</a:t>
            </a:r>
          </a:p>
          <a:p xmlns:a="http://schemas.openxmlformats.org/drawingml/2006/main">
            <a:r>
              <a:t>A: Wrong operation, metric, role, filter, or invalid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Parimal | 45-50 seconds</a:t>
            </a:r>
          </a:p>
          <a:p xmlns:a="http://schemas.openxmlformats.org/drawingml/2006/main">
            <a:r>
              <a:t>- Same Qwen 3.5 9B base model.</a:t>
            </a:r>
          </a:p>
          <a:p xmlns:a="http://schemas.openxmlformats.org/drawingml/2006/main">
            <a:r>
              <a:t>- Added task-specific QLoRA adapters.</a:t>
            </a:r>
          </a:p>
          <a:p xmlns:a="http://schemas.openxmlformats.org/drawingml/2006/main">
            <a:r>
              <a:t>- Trained on cricket questions paired with correct JSON plans.</a:t>
            </a:r>
          </a:p>
          <a:p xmlns:a="http://schemas.openxmlformats.org/drawingml/2006/main">
            <a:r>
              <a:t>- Validation, SQL, database, and test set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Parimal | 55-60 seconds</a:t>
            </a:r>
          </a:p>
          <a:p xmlns:a="http://schemas.openxmlformats.org/drawingml/2006/main">
            <a:r>
              <a:t>- Started with the six question types.</a:t>
            </a:r>
          </a:p>
          <a:p xmlns:a="http://schemas.openxmlformats.org/drawingml/2006/main">
            <a:r>
              <a:t>- Varied players, metrics, filters, and wording.</a:t>
            </a:r>
          </a:p>
          <a:p xmlns:a="http://schemas.openxmlformats.org/drawingml/2006/main">
            <a:r>
              <a:t>- Paired each question with the correct JSON plan.</a:t>
            </a:r>
          </a:p>
          <a:p xmlns:a="http://schemas.openxmlformats.org/drawingml/2006/main">
            <a:r>
              <a:t>- Checked every plan before adding it to the dataset.</a:t>
            </a:r>
          </a:p>
          <a:p xmlns:a="http://schemas.openxmlformats.org/drawingml/2006/main">
            <a:r>
              <a:t>- Used 800 for training and 100 for validation; test set stayed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Parimal | 60-65 seconds</a:t>
            </a:r>
          </a:p>
          <a:p xmlns:a="http://schemas.openxmlformats.org/drawingml/2006/main">
            <a:r>
              <a:t>- 4-bit NF4 QLoRA; base weights remain frozen.</a:t>
            </a:r>
          </a:p>
          <a:p xmlns:a="http://schemas.openxmlformats.org/drawingml/2006/main">
            <a:r>
              <a:t>- Target layers: q, k, v, and output projections.</a:t>
            </a:r>
          </a:p>
          <a:p xmlns:a="http://schemas.openxmlformats.org/drawingml/2006/main">
            <a:r>
              <a:t>- Rank 16, alpha 32, dropout 0.05.</a:t>
            </a:r>
          </a:p>
          <a:p xmlns:a="http://schemas.openxmlformats.org/drawingml/2006/main">
            <a:r>
              <a:t>- Three epochs; learning rate 2e-4; effective batch 16.</a:t>
            </a:r>
          </a:p>
          <a:p xmlns:a="http://schemas.openxmlformats.org/drawingml/2006/main">
            <a:r>
              <a:t>- Select the best validation exact-match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Parimal | 50-55 seconds</a:t>
            </a:r>
          </a:p>
          <a:p xmlns:a="http://schemas.openxmlformats.org/drawingml/2006/main">
            <a:r>
              <a:t>- Working fine-tuned score: 53/100.</a:t>
            </a:r>
          </a:p>
          <a:p xmlns:a="http://schemas.openxmlformats.org/drawingml/2006/main">
            <a:r>
              <a:t>- Base Qwen 9B was 43/100, so QLoRA adds ten correct plans.</a:t>
            </a:r>
          </a:p>
          <a:p xmlns:a="http://schemas.openxmlformats.org/drawingml/2006/main">
            <a:r>
              <a:t>- Main gains: operations, roles, metrics, and filters.</a:t>
            </a:r>
          </a:p>
          <a:p xmlns:a="http://schemas.openxmlformats.org/drawingml/2006/main">
            <a:r>
              <a:t>- Fine-tuned Qwen remains below Gemini at 59/100.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Questions Parimal may be asked:</a:t>
            </a:r>
          </a:p>
          <a:p xmlns:a="http://schemas.openxmlformats.org/drawingml/2006/main">
            <a:r>
              <a:t>Q: Why use QLoRA?</a:t>
            </a:r>
          </a:p>
          <a:p xmlns:a="http://schemas.openxmlformats.org/drawingml/2006/main">
            <a:r>
              <a:t>A: It trains small adapters and needs less memory than full fine-tuning.</a:t>
            </a:r>
          </a:p>
          <a:p xmlns:a="http://schemas.openxmlformats.org/drawingml/2006/main">
            <a:r>
              <a:t>Q: What was the training target?</a:t>
            </a:r>
          </a:p>
          <a:p xmlns:a="http://schemas.openxmlformats.org/drawingml/2006/main">
            <a:r>
              <a:t>A: A cricket question paired with its complete JSON query plan.</a:t>
            </a:r>
          </a:p>
          <a:p xmlns:a="http://schemas.openxmlformats.org/drawingml/2006/main">
            <a:r>
              <a:t>Q: How did you avoid test leakage?</a:t>
            </a:r>
          </a:p>
          <a:p xmlns:a="http://schemas.openxmlformats.org/drawingml/2006/main">
            <a:r>
              <a:t>A: The final 100 questions were not used in training or validation.</a:t>
            </a:r>
          </a:p>
          <a:p xmlns:a="http://schemas.openxmlformats.org/drawingml/2006/main">
            <a:r>
              <a:t>Q: What do rank and alpha mean?</a:t>
            </a:r>
          </a:p>
          <a:p xmlns:a="http://schemas.openxmlformats.org/drawingml/2006/main">
            <a:r>
              <a:t>A: Rank controls adapter size; alpha controls the strength of its update.</a:t>
            </a:r>
          </a:p>
          <a:p xmlns:a="http://schemas.openxmlformats.org/drawingml/2006/main">
            <a:r>
              <a:t>Q: Why did fine-tuning help?</a:t>
            </a:r>
          </a:p>
          <a:p xmlns:a="http://schemas.openxmlformats.org/drawingml/2006/main">
            <a:r>
              <a:t>A: It taught Qwen the exact output format and common cricket query patterns.</a:t>
            </a:r>
          </a:p>
          <a:p xmlns:a="http://schemas.openxmlformats.org/drawingml/2006/main">
            <a:r>
              <a:t>Q: Why did it remain below Gemini?</a:t>
            </a:r>
          </a:p>
          <a:p xmlns:a="http://schemas.openxmlformats.org/drawingml/2006/main">
            <a:r>
              <a:t>A: Fine-tuning specializes Qwen but does not give it Gemini's wider language 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Samay | 50-55 seconds</a:t>
            </a:r>
          </a:p>
          <a:p xmlns:a="http://schemas.openxmlformats.org/drawingml/2006/main">
            <a:r>
              <a:t>- Gemini is highest at 59/100.</a:t>
            </a:r>
          </a:p>
          <a:p xmlns:a="http://schemas.openxmlformats.org/drawingml/2006/main">
            <a:r>
              <a:t>- Fine-tuned Qwen reaches 53/100.</a:t>
            </a:r>
          </a:p>
          <a:p xmlns:a="http://schemas.openxmlformats.org/drawingml/2006/main">
            <a:r>
              <a:t>- Base Qwen 9B reaches 43; smaller Qwen 4B reaches 34.</a:t>
            </a:r>
          </a:p>
          <a:p xmlns:a="http://schemas.openxmlformats.org/drawingml/2006/main">
            <a:r>
              <a:t>- The same 100 questions and reference plans are used for every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| 45-55 seconds total</a:t>
            </a:r>
          </a:p>
          <a:p xmlns:a="http://schemas.openxmlformats.org/drawingml/2006/main">
            <a:r>
              <a:t>- Samay: We built the full question -&gt; plan -&gt; SQL -&gt; database pipeline.</a:t>
            </a:r>
          </a:p>
          <a:p xmlns:a="http://schemas.openxmlformats.org/drawingml/2006/main">
            <a:r>
              <a:t>- Hanny: The 9B Qwen handled the task better than the smaller 4B model.</a:t>
            </a:r>
          </a:p>
          <a:p xmlns:a="http://schemas.openxmlformats.org/drawingml/2006/main">
            <a:r>
              <a:t>- Parimal: QLoRA improved task-specific plan generation, but Gemini remained strongest.</a:t>
            </a:r>
          </a:p>
          <a:p xmlns:a="http://schemas.openxmlformats.org/drawingml/2006/main">
            <a:r>
              <a:t>- Parimal closes: Comparisons and matchups remain the main area to improve.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73a7b937947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de2daf9a2042a4" /><Relationship Type="http://schemas.openxmlformats.org/officeDocument/2006/relationships/slideLayout" Target="/ppt/slideLayouts/slideLayout1.xml" Id="R13c2990878d34c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c2990878d3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32c92865349d8" /><Relationship Type="http://schemas.openxmlformats.org/officeDocument/2006/relationships/image" Target="/ppt/media/image.jpeg" Id="R1262989c821a4729" /><Relationship Type="http://schemas.openxmlformats.org/officeDocument/2006/relationships/notesSlide" Target="/ppt/notesSlides/notesSlide1.xml" Id="Rc45827135ce142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158c39b5d4cdf" /><Relationship Type="http://schemas.openxmlformats.org/officeDocument/2006/relationships/notesSlide" Target="/ppt/notesSlides/notesSlide2.xml" Id="Ra925653a27c449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1597b7d224dbb" /><Relationship Type="http://schemas.openxmlformats.org/officeDocument/2006/relationships/notesSlide" Target="/ppt/notesSlides/notesSlide3.xml" Id="Rd47c69fb886544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737054ed84b96" /><Relationship Type="http://schemas.openxmlformats.org/officeDocument/2006/relationships/notesSlide" Target="/ppt/notesSlides/notesSlide4.xml" Id="R087b5bbb5bf64d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6ebd261554a50" /><Relationship Type="http://schemas.openxmlformats.org/officeDocument/2006/relationships/notesSlide" Target="/ppt/notesSlides/notesSlide5.xml" Id="Rd85f6ce69bda4c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156a14de54928" /><Relationship Type="http://schemas.openxmlformats.org/officeDocument/2006/relationships/chart" Target="/ppt/slides/charts/chart1.xml" Id="Rea5a3506ffed4b6d" /><Relationship Type="http://schemas.openxmlformats.org/officeDocument/2006/relationships/notesSlide" Target="/ppt/notesSlides/notesSlide6.xml" Id="R8db775d6070c40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1345fa9594447" /><Relationship Type="http://schemas.openxmlformats.org/officeDocument/2006/relationships/notesSlide" Target="/ppt/notesSlides/notesSlide7.xml" Id="Rdf533570b1a342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0fc13a0414952" /><Relationship Type="http://schemas.openxmlformats.org/officeDocument/2006/relationships/chart" Target="/ppt/slides/charts/chart2.xml" Id="R06d0838cac33457c" /><Relationship Type="http://schemas.openxmlformats.org/officeDocument/2006/relationships/notesSlide" Target="/ppt/notesSlides/notesSlide8.xml" Id="R6b9983e8e7cb48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a4c0d482a4d53" /><Relationship Type="http://schemas.openxmlformats.org/officeDocument/2006/relationships/notesSlide" Target="/ppt/notesSlides/notesSlide9.xml" Id="R5177ad3afdbc46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fbf3fede5449f" /><Relationship Type="http://schemas.openxmlformats.org/officeDocument/2006/relationships/notesSlide" Target="/ppt/notesSlides/notesSlide10.xml" Id="R13f2ea9e267e45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809b203434f21" /><Relationship Type="http://schemas.openxmlformats.org/officeDocument/2006/relationships/chart" Target="/ppt/slides/charts/chart3.xml" Id="R12924a0de983407b" /><Relationship Type="http://schemas.openxmlformats.org/officeDocument/2006/relationships/notesSlide" Target="/ppt/notesSlides/notesSlide11.xml" Id="R274089d493b94a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57d02bb2542d9" /><Relationship Type="http://schemas.openxmlformats.org/officeDocument/2006/relationships/notesSlide" Target="/ppt/notesSlides/notesSlide12.xml" Id="R8088ebbebea842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c2bea208748b8" /><Relationship Type="http://schemas.openxmlformats.org/officeDocument/2006/relationships/notesSlide" Target="/ppt/notesSlides/notesSlide13.xml" Id="R15ada537b7fd46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596247c7d4a20" /><Relationship Type="http://schemas.openxmlformats.org/officeDocument/2006/relationships/notesSlide" Target="/ppt/notesSlides/notesSlide14.xml" Id="R3c5d7aeb0c4c4c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f6411e0b84478" /><Relationship Type="http://schemas.openxmlformats.org/officeDocument/2006/relationships/chart" Target="/ppt/slides/charts/chart4.xml" Id="R8c5ace22e5944829" /><Relationship Type="http://schemas.openxmlformats.org/officeDocument/2006/relationships/notesSlide" Target="/ppt/notesSlides/notesSlide15.xml" Id="R2bc027da57e441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319568c6d4418" /><Relationship Type="http://schemas.openxmlformats.org/officeDocument/2006/relationships/chart" Target="/ppt/slides/charts/chart5.xml" Id="R5091410ff1724482" /><Relationship Type="http://schemas.openxmlformats.org/officeDocument/2006/relationships/notesSlide" Target="/ppt/notesSlides/notesSlide16.xml" Id="Ra6fabdd505dc4a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ba5f21bd94bf1" /><Relationship Type="http://schemas.openxmlformats.org/officeDocument/2006/relationships/notesSlide" Target="/ppt/notesSlides/notesSlide17.xml" Id="Rfdcdceb89807445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Questions</c:v>
          </c:tx>
          <c:spPr>
            <a:solidFill xmlns:a="http://schemas.openxmlformats.org/drawingml/2006/main">
              <a:srgbClr val="155B42"/>
            </a:solidFill>
          </c:spPr>
          <c:cat>
            <c:strLit>
              <c:ptCount val="6"/>
              <c:pt idx="0">
                <c:v>Breakdown</c:v>
              </c:pt>
              <c:pt idx="1">
                <c:v>Leaderboard</c:v>
              </c:pt>
              <c:pt idx="2">
                <c:v>Single metric</c:v>
              </c:pt>
              <c:pt idx="3">
                <c:v>Player comparison</c:v>
              </c:pt>
              <c:pt idx="4">
                <c:v>Split comparison</c:v>
              </c:pt>
              <c:pt idx="5">
                <c:v>Matchup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26</c:v>
              </c:pt>
              <c:pt idx="2">
                <c:v>19</c:v>
              </c:pt>
              <c:pt idx="3">
                <c:v>10</c:v>
              </c:pt>
              <c:pt idx="4">
                <c:v>9</c:v>
              </c:pt>
              <c:pt idx="5">
                <c:v>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A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86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A1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7F2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7F2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Correct plans</c:v>
          </c:tx>
          <c:spPr>
            <a:solidFill xmlns:a="http://schemas.openxmlformats.org/drawingml/2006/main">
              <a:srgbClr val="155B42"/>
            </a:solidFill>
          </c:spPr>
          <c:dPt>
            <c:idx val="4"/>
            <c:spPr>
              <a:solidFill xmlns:a="http://schemas.openxmlformats.org/drawingml/2006/main">
                <a:srgbClr val="A63D35"/>
              </a:solidFill>
            </c:spPr>
          </c:dPt>
          <c:dPt>
            <c:idx val="5"/>
            <c:spPr>
              <a:solidFill xmlns:a="http://schemas.openxmlformats.org/drawingml/2006/main">
                <a:srgbClr val="D8892F"/>
              </a:solidFill>
            </c:spPr>
          </c:dPt>
          <c:cat>
            <c:strLit>
              <c:ptCount val="6"/>
              <c:pt idx="0">
                <c:v>Single metric</c:v>
              </c:pt>
              <c:pt idx="1">
                <c:v>Leaderboard</c:v>
              </c:pt>
              <c:pt idx="2">
                <c:v>Breakdown</c:v>
              </c:pt>
              <c:pt idx="3">
                <c:v>Split comparison</c:v>
              </c:pt>
              <c:pt idx="4">
                <c:v>Player comparison</c:v>
              </c:pt>
              <c:pt idx="5">
                <c:v>Matchup</c:v>
              </c:pt>
            </c:strLit>
          </c:cat>
          <c:val>
            <c:numLit>
              <c:formatCode>General</c:formatCode>
              <c:ptCount val="6"/>
              <c:pt idx="0">
                <c:v>16</c:v>
              </c:pt>
              <c:pt idx="1">
                <c:v>19</c:v>
              </c:pt>
              <c:pt idx="2">
                <c:v>18</c:v>
              </c:pt>
              <c:pt idx="3">
                <c:v>5</c:v>
              </c:pt>
              <c:pt idx="4">
                <c:v>0</c:v>
              </c:pt>
              <c:pt idx="5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A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86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A1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7F2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7F2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Correct plans</c:v>
          </c:tx>
          <c:spPr>
            <a:solidFill xmlns:a="http://schemas.openxmlformats.org/drawingml/2006/main">
              <a:srgbClr val="D8892F"/>
            </a:solidFill>
          </c:spPr>
          <c:cat>
            <c:strLit>
              <c:ptCount val="2"/>
              <c:pt idx="0">
                <c:v>Qwen 3.5 4B</c:v>
              </c:pt>
              <c:pt idx="1">
                <c:v>Qwen 3.5 9B</c:v>
              </c:pt>
            </c:strLit>
          </c:cat>
          <c:val>
            <c:numLit>
              <c:formatCode>General</c:formatCode>
              <c:ptCount val="2"/>
              <c:pt idx="0">
                <c:v>34</c:v>
              </c:pt>
              <c:pt idx="1">
                <c:v>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A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86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A1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7F2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7F2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Correct plans</c:v>
          </c:tx>
          <c:spPr>
            <a:solidFill xmlns:a="http://schemas.openxmlformats.org/drawingml/2006/main">
              <a:srgbClr val="2D6673"/>
            </a:solidFill>
          </c:spPr>
          <c:cat>
            <c:strLit>
              <c:ptCount val="2"/>
              <c:pt idx="0">
                <c:v>Base 9B</c:v>
              </c:pt>
              <c:pt idx="1">
                <c:v>Fine-tuned 9B</c:v>
              </c:pt>
            </c:strLit>
          </c:cat>
          <c:val>
            <c:numLit>
              <c:formatCode>General</c:formatCode>
              <c:ptCount val="2"/>
              <c:pt idx="0">
                <c:v>43</c:v>
              </c:pt>
              <c:pt idx="1">
                <c:v>53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A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86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A1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7F2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7F2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Correct plans</c:v>
          </c:tx>
          <c:spPr>
            <a:solidFill xmlns:a="http://schemas.openxmlformats.org/drawingml/2006/main">
              <a:srgbClr val="155B42"/>
            </a:solidFill>
          </c:spPr>
          <c:dPt>
            <c:idx val="0"/>
            <c:spPr>
              <a:solidFill xmlns:a="http://schemas.openxmlformats.org/drawingml/2006/main">
                <a:srgbClr val="D8892F"/>
              </a:solidFill>
            </c:spPr>
          </c:dPt>
          <c:dPt>
            <c:idx val="1"/>
            <c:spPr>
              <a:solidFill xmlns:a="http://schemas.openxmlformats.org/drawingml/2006/main">
                <a:srgbClr val="D8892F"/>
              </a:solidFill>
            </c:spPr>
          </c:dPt>
          <c:dPt>
            <c:idx val="2"/>
            <c:spPr>
              <a:solidFill xmlns:a="http://schemas.openxmlformats.org/drawingml/2006/main">
                <a:srgbClr val="2D6673"/>
              </a:solidFill>
            </c:spPr>
          </c:dPt>
          <c:cat>
            <c:strLit>
              <c:ptCount val="4"/>
              <c:pt idx="0">
                <c:v>Qwen 3.5 4B</c:v>
              </c:pt>
              <c:pt idx="1">
                <c:v>Qwen 3.5 9B</c:v>
              </c:pt>
              <c:pt idx="2">
                <c:v>Fine-tuned 9B</c:v>
              </c:pt>
              <c:pt idx="3">
                <c:v>CricAtlas + Gemini</c:v>
              </c:pt>
            </c:strLit>
          </c:cat>
          <c:val>
            <c:numLit>
              <c:formatCode>General</c:formatCode>
              <c:ptCount val="4"/>
              <c:pt idx="0">
                <c:v>34</c:v>
              </c:pt>
              <c:pt idx="1">
                <c:v>43</c:v>
              </c:pt>
              <c:pt idx="2">
                <c:v>53</c:v>
              </c:pt>
              <c:pt idx="3">
                <c:v>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A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86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A1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7F2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7F2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73B36-0738-43DB-8968-C5807DE4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43050"/>
            <a:ext cx="5886450" cy="3562350"/>
          </a:xfrm>
          <a:prstGeom xmlns:a="http://schemas.openxmlformats.org/drawingml/2006/main" prst="roundRect">
            <a:avLst>
              <a:gd name="adj" fmla="val 1604"/>
            </a:avLst>
          </a:prstGeom>
          <a:solidFill xmlns:a="http://schemas.openxmlformats.org/drawingml/2006/main">
            <a:srgbClr val="111A1D"/>
          </a:solidFill>
          <a:ln xmlns:a="http://schemas.openxmlformats.org/drawingml/2006/main" w="9525">
            <a:solidFill>
              <a:srgbClr val="2A373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2989c821a4729"/>
          <a:stretch xmlns:a="http://schemas.openxmlformats.org/drawingml/2006/main"/>
        </p:blipFill>
        <p:spPr>
          <a:xfrm xmlns:a="http://schemas.openxmlformats.org/drawingml/2006/main">
            <a:off x="5906169" y="1676400"/>
            <a:ext cx="5618412" cy="3162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78D4-0555-4BE2-B3DA-3F04B1CB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892F"/>
                </a:solidFill>
              </a:defRPr>
            </a:pPr>
            <a:r>
              <a:rPr sz="1050" b="1">
                <a:solidFill>
                  <a:srgbClr val="D8892F"/>
                </a:solidFill>
              </a:rPr>
              <a:t>DEEP LEARNING FOR NLP MINI-PROJECT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6F7F0-EEB8-45B8-9B1F-F565744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CricAtlas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18CA8-BACF-4F57-89D9-8E479A90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Natural Language to Structured Cricket Queries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842C3-08AD-499D-826E-BA4333C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EB117-CB0A-43A5-A181-33214159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1CD"/>
                </a:solidFill>
              </a:defRPr>
            </a:pPr>
            <a:r>
              <a:rPr sz="1500" b="0">
                <a:solidFill>
                  <a:srgbClr val="C8D1CD"/>
                </a:solidFill>
              </a:rPr>
              <a:t>Gemini API, Qwen 3.5 4B/9B, and QLoRA fine-tuning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5E60F-2F3E-4615-A5DD-4F8A546C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D1CD"/>
                </a:solidFill>
              </a:defRPr>
            </a:pPr>
            <a:r>
              <a:rPr sz="1050" b="1">
                <a:solidFill>
                  <a:srgbClr val="C8D1CD"/>
                </a:solidFill>
              </a:rPr>
              <a:t>Samay | Hanny | Parimal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86A6C-73F6-47AE-A25F-4F365D5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8A49E"/>
                </a:solidFill>
              </a:defRPr>
            </a:pPr>
            <a:r>
              <a:rPr sz="1050" b="0">
                <a:solidFill>
                  <a:srgbClr val="98A49E"/>
                </a:solidFill>
              </a:rPr>
              <a:t>Team presentation | July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E6A34-D2E0-494C-AF18-5699755C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49E"/>
                </a:solidFill>
              </a:defRPr>
            </a:pPr>
            <a:r>
              <a:rPr sz="975" b="0">
                <a:solidFill>
                  <a:srgbClr val="98A49E"/>
                </a:solidFill>
              </a:rPr>
              <a:t>CricAtlas analyst interface</a:t>
            </a:r>
          </a:p>
        </p:txBody>
      </p:sp>
    </p:spTree>
    <p:extLst>
      <p:ext uri="{BB962C8B-B14F-4D97-AF65-F5344CB8AC3E}">
        <p14:creationId xmlns:p14="http://schemas.microsoft.com/office/powerpoint/2010/main" val="179673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B0624-5C0E-45AA-B91E-021DDCD4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B42"/>
                </a:solidFill>
              </a:defRPr>
            </a:pPr>
            <a:r>
              <a:rPr sz="975" b="1">
                <a:solidFill>
                  <a:srgbClr val="155B42"/>
                </a:solidFill>
              </a:rPr>
              <a:t>SAMAY | PROJECT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05BC4-6227-4F0C-ABAB-2BE13A61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Project Task: Convert Cricket Questions into Query Plans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0582C-6D9A-40CD-B1EB-E715331E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5793F-C5AE-4C21-ACBD-C9942FF4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E3FAA-C679-46F4-9C90-8CCC56D4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9146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E7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A16"/>
                </a:solidFill>
              </a:defRPr>
            </a:pPr>
            <a:r>
              <a:rPr sz="1050" b="1">
                <a:solidFill>
                  <a:srgbClr val="111A16"/>
                </a:solidFill>
              </a:rPr>
              <a:t>NATURAL-LANGUAGE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235F3-45AE-437F-90DA-47AA512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A16"/>
                </a:solidFill>
              </a:defRPr>
            </a:pPr>
            <a:r>
              <a:rPr sz="2025" b="1">
                <a:solidFill>
                  <a:srgbClr val="111A16"/>
                </a:solidFill>
              </a:rPr>
              <a:t>How many ODI runs has Virat Kohli scored in this database?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506F7-B5F5-4714-8DC8-68F4AEB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241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89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B0B0E-AAFD-4AAC-A923-8B191CC2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57350"/>
            <a:ext cx="3143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STRUCTURED QUERY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913EF-79C9-4AD4-A59B-7A2DF87D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3143250" cy="2724150"/>
          </a:xfrm>
          <a:prstGeom xmlns:a="http://schemas.openxmlformats.org/drawingml/2006/main" prst="roundRect">
            <a:avLst>
              <a:gd name="adj" fmla="val 1748"/>
            </a:avLst>
          </a:prstGeom>
          <a:solidFill xmlns:a="http://schemas.openxmlformats.org/drawingml/2006/main">
            <a:srgbClr val="0B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59B45-3AB9-4582-8F48-7BA575BA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781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EEE9"/>
                </a:solidFill>
              </a:defRPr>
            </a:pPr>
            <a:r>
              <a:rPr sz="1275" b="0">
                <a:solidFill>
                  <a:srgbClr val="E7EEE9"/>
                </a:solidFill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E7EEE9"/>
                </a:solidFill>
              </a:defRPr>
            </a:pPr>
            <a:r>
              <a:rPr sz="1275" b="0">
                <a:solidFill>
                  <a:srgbClr val="E7EEE9"/>
                </a:solidFill>
              </a:rPr>
              <a:t>  "operation": "aggregate",</a:t>
            </a:r>
          </a:p>
          <a:p xmlns:a="http://schemas.openxmlformats.org/drawingml/2006/main">
            <a:pPr algn="l">
              <a:defRPr sz="1275" b="0">
                <a:solidFill>
                  <a:srgbClr val="E7EEE9"/>
                </a:solidFill>
              </a:defRPr>
            </a:pPr>
            <a:r>
              <a:rPr sz="1275" b="0">
                <a:solidFill>
                  <a:srgbClr val="E7EEE9"/>
                </a:solidFill>
              </a:rPr>
              <a:t>  "entity": "batter",</a:t>
            </a:r>
          </a:p>
          <a:p xmlns:a="http://schemas.openxmlformats.org/drawingml/2006/main">
            <a:pPr algn="l">
              <a:defRPr sz="1275" b="0">
                <a:solidFill>
                  <a:srgbClr val="E7EEE9"/>
                </a:solidFill>
              </a:defRPr>
            </a:pPr>
            <a:r>
              <a:rPr sz="1275" b="0">
                <a:solidFill>
                  <a:srgbClr val="E7EEE9"/>
                </a:solidFill>
              </a:rPr>
              <a:t>  "metric": "runs_scored",</a:t>
            </a:r>
          </a:p>
          <a:p xmlns:a="http://schemas.openxmlformats.org/drawingml/2006/main">
            <a:pPr algn="l">
              <a:defRPr sz="1275" b="0">
                <a:solidFill>
                  <a:srgbClr val="E7EEE9"/>
                </a:solidFill>
              </a:defRPr>
            </a:pPr>
            <a:r>
              <a:rPr sz="1275" b="0">
                <a:solidFill>
                  <a:srgbClr val="E7EEE9"/>
                </a:solidFill>
              </a:rPr>
              <a:t>  "group_by": ["batter"],</a:t>
            </a:r>
          </a:p>
          <a:p xmlns:a="http://schemas.openxmlformats.org/drawingml/2006/main">
            <a:pPr algn="l">
              <a:defRPr sz="1275" b="0">
                <a:solidFill>
                  <a:srgbClr val="E7EEE9"/>
                </a:solidFill>
              </a:defRPr>
            </a:pPr>
            <a:r>
              <a:rPr sz="1275" b="0">
                <a:solidFill>
                  <a:srgbClr val="E7EEE9"/>
                </a:solidFill>
              </a:rPr>
              <a:t>  "filters": {</a:t>
            </a:r>
          </a:p>
          <a:p xmlns:a="http://schemas.openxmlformats.org/drawingml/2006/main">
            <a:pPr algn="l">
              <a:defRPr sz="1275" b="0">
                <a:solidFill>
                  <a:srgbClr val="E7EEE9"/>
                </a:solidFill>
              </a:defRPr>
            </a:pPr>
            <a:r>
              <a:rPr sz="1275" b="0">
                <a:solidFill>
                  <a:srgbClr val="E7EEE9"/>
                </a:solidFill>
              </a:rPr>
              <a:t>    "batter": "Virat Kohli"</a:t>
            </a:r>
          </a:p>
          <a:p xmlns:a="http://schemas.openxmlformats.org/drawingml/2006/main">
            <a:pPr algn="l">
              <a:defRPr sz="1275" b="0">
                <a:solidFill>
                  <a:srgbClr val="E7EEE9"/>
                </a:solidFill>
              </a:defRPr>
            </a:pPr>
            <a:r>
              <a:rPr sz="1275" b="0">
                <a:solidFill>
                  <a:srgbClr val="E7EEE9"/>
                </a:solidFill>
              </a:rPr>
              <a:t>  }</a:t>
            </a:r>
          </a:p>
          <a:p xmlns:a="http://schemas.openxmlformats.org/drawingml/2006/main">
            <a:pPr algn="l">
              <a:defRPr sz="1275" b="0">
                <a:solidFill>
                  <a:srgbClr val="E7EEE9"/>
                </a:solidFill>
              </a:defRPr>
            </a:pPr>
            <a:r>
              <a:rPr sz="1275" b="0">
                <a:solidFill>
                  <a:srgbClr val="E7EEE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79D9F-DBAC-4BD7-870A-6BDB652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89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347B7-95C3-48AE-B65E-640D0212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57350"/>
            <a:ext cx="27241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5B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DATABASE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A9AF4-39C7-4D3D-812A-643BDB2B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5B42"/>
                </a:solidFill>
              </a:defRPr>
            </a:pPr>
            <a:r>
              <a:rPr sz="3150" b="1">
                <a:solidFill>
                  <a:srgbClr val="155B42"/>
                </a:solidFill>
              </a:rPr>
              <a:t>13,950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502A4-49C7-411F-A0D2-E137AC9E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runs scored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957FE-BE44-4341-B961-899128B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86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14,918 balls faced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61A6A-3575-4463-9720-585768F4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284 matches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191DB-AF25-4838-B407-49AFE58F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5727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151DA-6735-4E90-A934-D15C55DF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B42"/>
                </a:solidFill>
              </a:defRPr>
            </a:pPr>
            <a:r>
              <a:rPr sz="1350" b="1">
                <a:solidFill>
                  <a:srgbClr val="155B42"/>
                </a:solidFill>
              </a:rPr>
              <a:t>The model predicts the query plan. CricAtlas executes that plan on DuckDB to calculate the answer.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65786-1605-4C2C-B1A1-7B2F758D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2"/>
                </a:solidFill>
              </a:defRPr>
            </a:pPr>
            <a:r>
              <a:rPr sz="750" b="0">
                <a:solidFill>
                  <a:srgbClr val="5D6862"/>
                </a:solidFill>
              </a:rPr>
              <a:t>Example from the CricAtlas ODI evaluation database.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17FC0-1CC7-4AA3-9E06-2C40114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1842748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B29A89-EAAB-4EDA-A2FD-44B0CE18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B42"/>
                </a:solidFill>
              </a:defRPr>
            </a:pPr>
            <a:r>
              <a:rPr sz="975" b="1">
                <a:solidFill>
                  <a:srgbClr val="155B42"/>
                </a:solidFill>
              </a:rPr>
              <a:t>SAMAY | 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8F05F-F5F3-4DFD-86EB-B63CF11A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CricAtlas Processing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760B7-2B48-416E-972D-C8A5A744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260CD-CAD8-45B7-A8C9-5EF9068E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8BB78-F8AE-4964-AD34-5477685F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241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FBF99-1AC4-4740-ACA9-EE7F2DC0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241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89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CF222-78DC-4BE1-8ED4-5A448934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DE862-60C1-42F0-A8C8-2E7E271F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F8668-3F16-4E27-A4FD-775C661E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9BE72-0F94-4E30-B6F9-BB73E406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428750" cy="1809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6EF65-C655-4C3A-8AE6-D54FC9C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D3E2C-83FF-4364-AEA7-60965AD0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A16"/>
                </a:solidFill>
              </a:defRPr>
            </a:pPr>
            <a:r>
              <a:rPr sz="1425" b="1">
                <a:solidFill>
                  <a:srgbClr val="111A16"/>
                </a:solidFill>
              </a:rPr>
              <a:t>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A5746-0517-4C9B-802C-D6D8A280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62"/>
                </a:solidFill>
              </a:defRPr>
            </a:pPr>
            <a:r>
              <a:rPr sz="1050" b="0">
                <a:solidFill>
                  <a:srgbClr val="5D6862"/>
                </a:solidFill>
              </a:rPr>
              <a:t>User asks an ODI cricket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B93D7-4056-45E7-B90E-F233D2AE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38350"/>
            <a:ext cx="1428750" cy="1809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E7D3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7849C-DA89-47F5-8454-2C2D292B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28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892F"/>
                </a:solidFill>
              </a:defRPr>
            </a:pPr>
            <a:r>
              <a:rPr sz="1050" b="1">
                <a:solidFill>
                  <a:srgbClr val="D8892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7D0E1-0377-4F40-8DB9-9C29FA49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289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A16"/>
                </a:solidFill>
              </a:defRPr>
            </a:pPr>
            <a:r>
              <a:rPr sz="1425" b="1">
                <a:solidFill>
                  <a:srgbClr val="111A16"/>
                </a:solidFill>
              </a:rPr>
              <a:t>Language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77E8A-D88C-4F7A-8919-896F1B2E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62"/>
                </a:solidFill>
              </a:defRPr>
            </a:pPr>
            <a:r>
              <a:rPr sz="1050" b="0">
                <a:solidFill>
                  <a:srgbClr val="5D6862"/>
                </a:solidFill>
              </a:rPr>
              <a:t>Gemini or Qwen generates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2269A-5886-4F97-B4FB-62E36498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428750" cy="1809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2AFA5-12A8-4BE2-B795-9D1687E4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689F7-04E6-4202-B605-76D21640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A16"/>
                </a:solidFill>
              </a:defRPr>
            </a:pPr>
            <a:r>
              <a:rPr sz="1425" b="1">
                <a:solidFill>
                  <a:srgbClr val="111A16"/>
                </a:solidFill>
              </a:rPr>
              <a:t>Normalize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3E1C1-2C38-46B0-8A2D-974FB203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62"/>
                </a:solidFill>
              </a:defRPr>
            </a:pPr>
            <a:r>
              <a:rPr sz="1050" b="0">
                <a:solidFill>
                  <a:srgbClr val="5D6862"/>
                </a:solidFill>
              </a:rPr>
              <a:t>Names and metric terms are standardized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AB50C-0CDF-48B1-925A-60A9C976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38350"/>
            <a:ext cx="1428750" cy="1809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BD50C-33B4-4104-9BB6-6D839255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0DED0-F972-4A8E-AC7E-231ED8E4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A16"/>
                </a:solidFill>
              </a:defRPr>
            </a:pPr>
            <a:r>
              <a:rPr sz="1425" b="1">
                <a:solidFill>
                  <a:srgbClr val="111A16"/>
                </a:solidFill>
              </a:rPr>
              <a:t>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588920-F9E6-453D-BC89-8A9A9267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62"/>
                </a:solidFill>
              </a:defRPr>
            </a:pPr>
            <a:r>
              <a:rPr sz="1050" b="0">
                <a:solidFill>
                  <a:srgbClr val="5D6862"/>
                </a:solidFill>
              </a:rPr>
              <a:t>Schema and cricket rules are checked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49E3E-B8A0-4CD2-AA83-E51BD4DB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38350"/>
            <a:ext cx="1428750" cy="1809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FF00B-8E62-4A62-B90C-C3A214B2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FA96C-CBEC-4BC7-8B02-18D22386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A16"/>
                </a:solidFill>
              </a:defRPr>
            </a:pPr>
            <a:r>
              <a:rPr sz="1425" b="1">
                <a:solidFill>
                  <a:srgbClr val="111A16"/>
                </a:solidFill>
              </a:rPr>
              <a:t>SQL + DuckDB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56EE0-A94A-45D6-9533-B8A7E8FC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62"/>
                </a:solidFill>
              </a:defRPr>
            </a:pPr>
            <a:r>
              <a:rPr sz="1050" b="0">
                <a:solidFill>
                  <a:srgbClr val="5D6862"/>
                </a:solidFill>
              </a:rPr>
              <a:t>The validated plan is executed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B176B2-E417-44FD-B18D-9742A7E0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428750" cy="1809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3792E9-50EF-4085-9434-C2D5E873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288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94D46B-0DBC-417D-8747-EFFECA3C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289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A16"/>
                </a:solidFill>
              </a:defRPr>
            </a:pPr>
            <a:r>
              <a:rPr sz="1425" b="1">
                <a:solidFill>
                  <a:srgbClr val="111A16"/>
                </a:solidFill>
              </a:rPr>
              <a:t>Answer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3A788-B4B8-4944-8494-5B7B40E8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62"/>
                </a:solidFill>
              </a:defRPr>
            </a:pPr>
            <a:r>
              <a:rPr sz="1050" b="0">
                <a:solidFill>
                  <a:srgbClr val="5D6862"/>
                </a:solidFill>
              </a:rPr>
              <a:t>Number or table is returned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31B6C9-C094-428F-8681-CED4AE42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14850"/>
            <a:ext cx="9067800" cy="1219200"/>
          </a:xfrm>
          <a:prstGeom xmlns:a="http://schemas.openxmlformats.org/drawingml/2006/main" prst="roundRect">
            <a:avLst>
              <a:gd name="adj" fmla="val 3906"/>
            </a:avLst>
          </a:prstGeom>
          <a:solidFill xmlns:a="http://schemas.openxmlformats.org/drawingml/2006/main">
            <a:srgbClr val="0B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666040-4CB5-4DD5-80F0-CF741791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892F"/>
                </a:solidFill>
              </a:defRPr>
            </a:pPr>
            <a:r>
              <a:rPr sz="1500" b="1">
                <a:solidFill>
                  <a:srgbClr val="D8892F"/>
                </a:solidFill>
              </a:rPr>
              <a:t>Model comparison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F7F6CE-D04A-4C6F-912D-240110F9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053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Only the language model in Step 2 changes. Every model uses the same normalization, validation, SQL, database, and scoring.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8880F9-FD6E-41CD-BCD8-E927D6F3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2"/>
                </a:solidFill>
              </a:defRPr>
            </a:pPr>
            <a:r>
              <a:rPr sz="750" b="0">
                <a:solidFill>
                  <a:srgbClr val="5D6862"/>
                </a:solidFill>
              </a:rPr>
              <a:t>Implemented in the CricAtlas backend.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B12527-A8BF-46B9-852B-3F3F965E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1089673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2DBB7-F343-4BE6-8F4D-7FFEDF40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B42"/>
                </a:solidFill>
              </a:defRPr>
            </a:pPr>
            <a:r>
              <a:rPr sz="975" b="1">
                <a:solidFill>
                  <a:srgbClr val="155B42"/>
                </a:solidFill>
              </a:rPr>
              <a:t>SAMAY |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A15C0-93C6-41E9-9A2F-98E821D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How CricAtlas Developed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10CF4-9808-4B98-958B-C3787C7B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C56A6-3C1F-4B57-BFBE-94BCA2F0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19EBA-6809-4F5C-865D-1EAA692C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146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D2A09-FFD2-4A97-875F-1831F16E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1140B-9613-4378-A3E8-B3F89F18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A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8C4A4-2EC6-4F07-B9A1-CEB41AF3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209800" cy="3009900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53BC1-E4E5-46B2-A40A-F648C094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892F"/>
                </a:solidFill>
              </a:defRPr>
            </a:pPr>
            <a:r>
              <a:rPr sz="1500" b="1">
                <a:solidFill>
                  <a:srgbClr val="D8892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A8D41-C6E5-49A4-AD84-34F4C4DB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Direct SQL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1EC6F-10FA-40EA-AD5B-4BECA33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828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A long schema prompt asked the LLM to write SQL. Small wording or SQL mistakes could break the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05C2B-213D-4FA8-A59E-B9B175FC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209800" cy="3009900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A81F9-8D27-4442-966D-BDA20291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B42"/>
                </a:solidFill>
              </a:defRPr>
            </a:pPr>
            <a:r>
              <a:rPr sz="1500" b="1">
                <a:solidFill>
                  <a:srgbClr val="155B42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3B688-3466-46BB-BF33-B489EAFE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Rule-based router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7ED86-6573-46A0-B44D-4C55171C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1828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Keywords selected one of five question classes. It worked for known wording but was too rigid.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1955C-9157-4FAB-8B0C-49BA7A67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90700"/>
            <a:ext cx="2209800" cy="3009900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7315A-A02E-4499-85F5-3B4ACA1C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B42"/>
                </a:solidFill>
              </a:defRPr>
            </a:pPr>
            <a:r>
              <a:rPr sz="1500" b="1">
                <a:solidFill>
                  <a:srgbClr val="155B42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C9AE7-BFD9-44D2-A388-9C9E023A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AI-first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26851-D8EE-4E80-A40F-F382CEB1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1828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Gemini extracted the question class, players, and filters. This improved language understanding.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678CF-5881-46A1-8560-9821ACD4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2209800" cy="3009900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691DC-399A-45A3-B1ED-7E37097A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B42"/>
                </a:solidFill>
              </a:defRPr>
            </a:pPr>
            <a:r>
              <a:rPr sz="1500" b="1">
                <a:solidFill>
                  <a:srgbClr val="155B42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0679C-C3F7-4A88-977E-85020442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Semantic V2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59A43-B510-4B33-AA42-439916FF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1828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A complete JSON query plan is normalized, validated, repaired, and executed by fixed code.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A4FF3-6531-4070-B77F-869F4FD4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679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5F21C-0743-4F57-AA36-0576CEE3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Each version was changed after we found a real failure in the previous version.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CD5EC-58B9-4AB0-B0E9-5CB2189C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1837744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EEA796-654D-44ED-A231-37726A6D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B42"/>
                </a:solidFill>
              </a:defRPr>
            </a:pPr>
            <a:r>
              <a:rPr sz="975" b="1">
                <a:solidFill>
                  <a:srgbClr val="155B42"/>
                </a:solidFill>
              </a:rPr>
              <a:t>SAMAY |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A9FAC-8201-44FA-ADC7-0216FCFF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What We Improved in the Current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C558D-CFA3-4789-8CA3-A4F88C23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9B61B-E1ED-4323-B808-58F5FEA9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00108-14EC-44C7-A301-4C881BB1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B131F-A92F-424E-AEEF-55FB13BF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Planner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1C6CC-3090-4A40-B547-CF8641D2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JSON-only output, the plan schema, supported cricket terms, and explicit interpretation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95EED-2350-4A1D-9A4F-8E5EC0AB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4B83E-45B5-4D04-8900-C63D1FEA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33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892F"/>
                </a:solidFill>
              </a:defRPr>
            </a:pPr>
            <a:r>
              <a:rPr sz="1050" b="1">
                <a:solidFill>
                  <a:srgbClr val="D8892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1AA24-7709-40FB-941E-92421D8F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95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Metric catalogue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BEFE7-EB0A-4F1C-9047-D1EAD03C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Fixed formulas, owners, sort direction, units, and minimum sample sizes.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74772-0A43-4146-98E0-77530FC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FDE86-9D20-49B4-B671-828A2E20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1A673-D3FF-4371-91C9-57763A79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Normalization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E0605-FFAF-4C0E-BD92-EA12234C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Standardize player names, metric aliases, dimensions, phases, and bowling styles.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A506B1-2654-4B83-B4AB-6CD6F4F4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1D1B5-CB28-464B-86A3-9E213C1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892F"/>
                </a:solidFill>
              </a:defRPr>
            </a:pPr>
            <a:r>
              <a:rPr sz="1050" b="1">
                <a:solidFill>
                  <a:srgbClr val="D8892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1075A-046F-415A-9A42-F47B926A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Guardrails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01DF4-57D4-4833-8971-C7ABBD32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Correct common role and operation mistakes before SQL is generated.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8122C-16B0-4A28-AD9D-A1FF3BE2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195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402B8-5E1B-4273-8029-FA336E0F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D97A8-2B49-43FB-AEFF-9963391A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Validation + repair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B993F-63EE-4CD9-8A28-0A2AEC59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Reject invalid plans and give the model one chance to correct the listed errors.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C81CC7-A481-4E67-AAF0-A18FAC62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C3FD7D-4379-425F-BB18-AFFE7A02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892F"/>
                </a:solidFill>
              </a:defRPr>
            </a:pPr>
            <a:r>
              <a:rPr sz="1050" b="1">
                <a:solidFill>
                  <a:srgbClr val="D8892F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1F76F-1BAC-411E-868F-021D6261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0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Fixed 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75E86-03B2-4446-9A46-1CDC677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91050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SQL builders and result checks calculate the answer without asking the LLM for statistics.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A6163E-DA01-40CB-8971-907B2351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76850"/>
            <a:ext cx="462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2283D-6EF7-4BDF-A1EA-10885F42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5E9300-2484-4755-9CF5-F50AE305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B42"/>
                </a:solidFill>
              </a:defRPr>
            </a:pPr>
            <a:r>
              <a:rPr sz="1275" b="1">
                <a:solidFill>
                  <a:srgbClr val="155B42"/>
                </a:solidFill>
              </a:rPr>
              <a:t>The LLM interprets the question; CricAtlas code controls the cricket calculations.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B40BCD-C737-4E2A-A6B9-F6FC9DCA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1792823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C9FB2-F96E-4984-94FD-E353B4B9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B42"/>
                </a:solidFill>
              </a:defRPr>
            </a:pPr>
            <a:r>
              <a:rPr sz="975" b="1">
                <a:solidFill>
                  <a:srgbClr val="155B42"/>
                </a:solidFill>
              </a:rPr>
              <a:t>SAMAY |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28207-2717-4E33-A701-E530888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Evaluation Dataset: 100 ODI Analyst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331F8-931E-41AC-ACD1-D3BE13FA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CB57A-90F4-46E2-9546-8A35ED41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47700" y="1657350"/>
          <a:ext xmlns:a="http://schemas.openxmlformats.org/drawingml/2006/main" cx="638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5a3506ffed4b6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01C5D-11E6-45FE-8552-AE8EAA4B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145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5B42"/>
                </a:solidFill>
              </a:defRPr>
            </a:pPr>
            <a:r>
              <a:rPr sz="3150" b="1">
                <a:solidFill>
                  <a:srgbClr val="155B42"/>
                </a:solidFill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D6D32-414C-4028-833B-6DE43ACA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66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test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AD69F-63AC-4813-AA37-855E022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03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ADBE4-910D-4196-82B6-A46D5AF1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05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B42"/>
                </a:solidFill>
              </a:defRPr>
            </a:pPr>
            <a:r>
              <a:rPr sz="1350" b="1">
                <a:solidFill>
                  <a:srgbClr val="155B42"/>
                </a:solidFill>
              </a:rPr>
              <a:t>Reference query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FEE6D-07CB-44A0-860A-58EA687C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The complete executable JSON plan is stored for every question.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A75CB-8927-4555-A5F7-6D89CBFD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8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B42"/>
                </a:solidFill>
              </a:defRPr>
            </a:pPr>
            <a:r>
              <a:rPr sz="1350" b="1">
                <a:solidFill>
                  <a:srgbClr val="155B42"/>
                </a:solidFill>
              </a:rPr>
              <a:t>Correct database answer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205DD-8AF9-4140-AE49-B42A85FF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That plan is executed on DuckDB to create the answer.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71813-3D47-48DD-8BE3-3DD9CB4E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48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B42"/>
                </a:solidFill>
              </a:defRPr>
            </a:pPr>
            <a:r>
              <a:rPr sz="1350" b="1">
                <a:solidFill>
                  <a:srgbClr val="155B42"/>
                </a:solidFill>
              </a:rPr>
              <a:t>Test-only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B34A3-B44B-4046-B18F-87EA9C24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None of these 100 questions is used for fine-tuning.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86078-21ED-46D2-8D48-AB6AB2DF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2"/>
                </a:solidFill>
              </a:defRPr>
            </a:pPr>
            <a:r>
              <a:rPr sz="750" b="0">
                <a:solidFill>
                  <a:srgbClr val="5D6862"/>
                </a:solidFill>
              </a:rPr>
              <a:t>Source: dl4nlp_cricket_analyst_supported_100.yaml.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1ED05-726E-4354-8D08-E9BD835E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241401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A38B59-1F93-4A85-9F9A-00B6FB5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B42"/>
                </a:solidFill>
              </a:defRPr>
            </a:pPr>
            <a:r>
              <a:rPr sz="975" b="1">
                <a:solidFill>
                  <a:srgbClr val="155B42"/>
                </a:solidFill>
              </a:rPr>
              <a:t>SAMAY |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FB0B0-5357-44D0-99E1-F9AFB66B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Evaluation: Exact Match of the Full Query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F48BF-DE49-483A-8B90-535004FB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4BD0A-DBBC-41F1-958E-6E08CCD2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BBE96-BDCF-42C0-9DED-0907C458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381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REFERENCE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DA1DB-AE05-41A3-B0A9-63000CE5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2381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E7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892F"/>
                </a:solidFill>
              </a:defRPr>
            </a:pPr>
            <a:r>
              <a:rPr sz="1050" b="1">
                <a:solidFill>
                  <a:srgbClr val="D8892F"/>
                </a:solidFill>
              </a:rPr>
              <a:t>MODEL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9C6C4-8436-4330-A8BD-6D2BC5D7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08948-E5D6-4644-8E0E-3832788D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7170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81E12-779B-4ED9-9203-89C0B3AC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operation + 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2FE58-2F29-426C-88E8-B693B803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47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operation + 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65B72-248A-45A3-90D7-560AF0FE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B42"/>
                </a:solidFill>
              </a:defRPr>
            </a:pPr>
            <a:r>
              <a:rPr sz="1800" b="1">
                <a:solidFill>
                  <a:srgbClr val="155B42"/>
                </a:solidFill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4034C-039C-43DD-868E-9B26020F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7E8D4-B946-4C36-85F8-DA8176C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0985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CAB8B-1B84-4861-90A8-A85712A7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metric + grouping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6BA3C-AF4C-4509-8589-1FE254B4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metric + grouping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88B2C-76A7-4D9B-90E4-F0747995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38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B42"/>
                </a:solidFill>
              </a:defRPr>
            </a:pPr>
            <a:r>
              <a:rPr sz="1800" b="1">
                <a:solidFill>
                  <a:srgbClr val="155B42"/>
                </a:solidFill>
              </a:rPr>
              <a:t>=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01CCB-1651-4004-A72F-7A87575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EF6DB-EA67-4954-AC28-AEFD4670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4800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CA2A5-FE30-4905-8F5E-E5103558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all filters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EE47E-E391-4E96-90E7-55D4BF4E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all filters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42F29-5E50-44C8-9631-300F266A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765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B42"/>
                </a:solidFill>
              </a:defRPr>
            </a:pPr>
            <a:r>
              <a:rPr sz="1800" b="1">
                <a:solidFill>
                  <a:srgbClr val="155B42"/>
                </a:solidFill>
              </a:rPr>
              <a:t>=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E9B6C0-109E-4CD5-9FA3-15EFC45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1D988-8274-4C2A-B2F8-9FD42250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8615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861542-DF48-47BF-877C-665D0B62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sorting + limit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2EAF2-9F34-47A4-A0D8-548077F9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62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sorting + limit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36FB6-4092-4527-9A01-B2CBF5FB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B42"/>
                </a:solidFill>
              </a:defRPr>
            </a:pPr>
            <a:r>
              <a:rPr sz="1800" b="1">
                <a:solidFill>
                  <a:srgbClr val="155B42"/>
                </a:solidFill>
              </a:rPr>
              <a:t>=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58516-4A98-4EEE-AECF-49243EAC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A2292-9A16-4BE1-B798-17F599D6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2430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57564-A13D-499A-A60A-DDD41A0F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split / comparison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D231D-CBD7-4A34-953D-7F46AC10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split / comparison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CBB770-9622-4C56-A354-0D6B0BD6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52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B42"/>
                </a:solidFill>
              </a:defRPr>
            </a:pPr>
            <a:r>
              <a:rPr sz="1800" b="1">
                <a:solidFill>
                  <a:srgbClr val="155B42"/>
                </a:solidFill>
              </a:rPr>
              <a:t>=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56137B-2683-4EC8-ABE2-5F7FD509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C3D3D0-46B6-4D4A-8832-6818E963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23812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805648-53A2-40C9-877A-8C004A6D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sample-size settings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29C7D7-0818-434F-BDCF-8D5A04D3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38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sample-size settings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C86CE-401A-4FA9-8329-9D208048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910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B42"/>
                </a:solidFill>
              </a:defRPr>
            </a:pPr>
            <a:r>
              <a:rPr sz="1800" b="1">
                <a:solidFill>
                  <a:srgbClr val="155B42"/>
                </a:solidFill>
              </a:rPr>
              <a:t>=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2C26DA-DCF2-4058-A51A-CE05C2E5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76400"/>
            <a:ext cx="3810000" cy="2686050"/>
          </a:xfrm>
          <a:prstGeom xmlns:a="http://schemas.openxmlformats.org/drawingml/2006/main" prst="roundRect">
            <a:avLst>
              <a:gd name="adj" fmla="val 1773"/>
            </a:avLst>
          </a:prstGeom>
          <a:solidFill xmlns:a="http://schemas.openxmlformats.org/drawingml/2006/main">
            <a:srgbClr val="0B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E7975D-30B3-4DD3-A30F-9E571C29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43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892F"/>
                </a:solidFill>
              </a:defRPr>
            </a:pPr>
            <a:r>
              <a:rPr sz="1800" b="1">
                <a:solidFill>
                  <a:srgbClr val="D8892F"/>
                </a:solidFill>
              </a:rPr>
              <a:t>Scoring rule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5EDAE2-DE9A-4548-98D0-82E6230E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527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 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D1C4F1-9DDB-4D26-A933-E602E632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1CD"/>
                </a:solidFill>
              </a:defRPr>
            </a:pPr>
            <a:r>
              <a:rPr sz="1275" b="0">
                <a:solidFill>
                  <a:srgbClr val="C8D1CD"/>
                </a:solidFill>
              </a:rPr>
              <a:t>only when both complete plans match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1C2CF0-A192-477C-B922-040BF72D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 points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16050B-3745-4EF3-A4E1-8450DE28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1CD"/>
                </a:solidFill>
              </a:defRPr>
            </a:pPr>
            <a:r>
              <a:rPr sz="1275" b="0">
                <a:solidFill>
                  <a:srgbClr val="C8D1CD"/>
                </a:solidFill>
              </a:rPr>
              <a:t>when any query field differs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695FCF-D95F-4E0A-8215-86D5CCA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67950" cy="10668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C73490-B4AB-439C-90ED-432D81F6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5B42"/>
                </a:solidFill>
              </a:defRPr>
            </a:pPr>
            <a:r>
              <a:rPr sz="1875" b="1">
                <a:solidFill>
                  <a:srgbClr val="155B42"/>
                </a:solidFill>
              </a:rPr>
              <a:t>59 correct plans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EA2E7F-7686-46C8-B916-D7402755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197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6862"/>
                </a:solidFill>
              </a:defRPr>
            </a:pPr>
            <a:r>
              <a:rPr sz="1800" b="1">
                <a:solidFill>
                  <a:srgbClr val="5D6862"/>
                </a:solidFill>
              </a:rPr>
              <a:t>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0F7D76-FFDB-4517-9645-E161BC06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00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A16"/>
                </a:solidFill>
              </a:defRPr>
            </a:pPr>
            <a:r>
              <a:rPr sz="1875" b="1">
                <a:solidFill>
                  <a:srgbClr val="111A16"/>
                </a:solidFill>
              </a:rPr>
              <a:t>100 questions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41116B-1C0C-4D35-AE35-D318BE93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6862"/>
                </a:solidFill>
              </a:defRPr>
            </a:pPr>
            <a:r>
              <a:rPr sz="1800" b="1">
                <a:solidFill>
                  <a:srgbClr val="5D6862"/>
                </a:solidFill>
              </a:rPr>
              <a:t>=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6E1481-DABE-4239-813D-F9CB60C7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00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5B42"/>
                </a:solidFill>
              </a:defRPr>
            </a:pPr>
            <a:r>
              <a:rPr sz="1875" b="1">
                <a:solidFill>
                  <a:srgbClr val="155B42"/>
                </a:solidFill>
              </a:rPr>
              <a:t>59% accuracy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5F64B7-4C68-44D8-AE6E-7613D4BD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929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JSON key order and spacing are ignored. No keyword or partial-match points are used.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B96BBE-3FE2-4CA5-BE74-BA021E3C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2"/>
                </a:solidFill>
              </a:defRPr>
            </a:pPr>
            <a:r>
              <a:rPr sz="750" b="0">
                <a:solidFill>
                  <a:srgbClr val="5D6862"/>
                </a:solidFill>
              </a:rPr>
              <a:t>One reported score: full JSON exact match of the complete executable plan.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6D08E8-1275-4F16-8EED-E63C8CFC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1447187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8A527-DDF6-48D9-9540-A746F828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B42"/>
                </a:solidFill>
              </a:defRPr>
            </a:pPr>
            <a:r>
              <a:rPr sz="975" b="1">
                <a:solidFill>
                  <a:srgbClr val="155B42"/>
                </a:solidFill>
              </a:rPr>
              <a:t>SAMAY | CURRENT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0A61D-FDAB-41BF-9DBC-EC70471F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CricAtlas + Gemini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A2E4A-5B36-46B8-80F1-831B1F2F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AE310-97A1-477B-ABD0-1806BD0C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317E8-386A-4C62-BBE5-BA74B9BC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5B42"/>
                </a:solidFill>
              </a:defRPr>
            </a:pPr>
            <a:r>
              <a:rPr sz="3150" b="1">
                <a:solidFill>
                  <a:srgbClr val="155B42"/>
                </a:solidFill>
              </a:rPr>
              <a:t>59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22F18-0C9F-4B89-9ABB-5708F7B6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structured query plans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EDFAE-5E52-4894-A55C-F05517BA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62"/>
                </a:solidFill>
              </a:defRPr>
            </a:pPr>
            <a:r>
              <a:rPr sz="1275" b="0">
                <a:solidFill>
                  <a:srgbClr val="5D6862"/>
                </a:solidFill>
              </a:rPr>
              <a:t>Current result on the 100-question ODI analyst benchmark.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3D72D-1F9F-4AF2-8BEA-AC32F2F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8097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CURRENT RESULT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095750" y="1619250"/>
          <a:ext xmlns:a="http://schemas.openxmlformats.org/drawingml/2006/main" cx="72390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d0838cac33457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78E72-93D1-4628-8FF7-1D03338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0480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5E7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157A7-E532-4F65-9EA6-A7C3AAE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892F"/>
                </a:solidFill>
              </a:defRPr>
            </a:pPr>
            <a:r>
              <a:rPr sz="1350" b="1">
                <a:solidFill>
                  <a:srgbClr val="D8892F"/>
                </a:solidFill>
              </a:rPr>
              <a:t>Main weakness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6C3F3-1A2A-4284-A544-6FAAA52F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A16"/>
                </a:solidFill>
              </a:defRPr>
            </a:pPr>
            <a:r>
              <a:rPr sz="1275" b="0">
                <a:solidFill>
                  <a:srgbClr val="111A16"/>
                </a:solidFill>
              </a:rPr>
              <a:t>Player comparisons and batter-bowler matchups.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7DF6F-FF6B-4F7D-963B-3768B957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2"/>
                </a:solidFill>
              </a:defRPr>
            </a:pPr>
            <a:r>
              <a:rPr sz="750" b="0">
                <a:solidFill>
                  <a:srgbClr val="5D6862"/>
                </a:solidFill>
              </a:rPr>
              <a:t>Current presentation result: 59/100.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EABDF-79B3-46AE-82AF-AAFDCAF4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5908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CAC43-023B-4528-98FB-E4CEEC7D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892F"/>
                </a:solidFill>
              </a:defRPr>
            </a:pPr>
            <a:r>
              <a:rPr sz="975" b="1">
                <a:solidFill>
                  <a:srgbClr val="D8892F"/>
                </a:solidFill>
              </a:rPr>
              <a:t>HANNY | BASE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EF848-48D9-4DA7-A00C-27EB7CD6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Hanny: Zero-Shot Qwen Model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99F4F-9E3A-4451-9C94-56F35020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70A6A-2566-46B4-BF4F-357238D1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A2A71-C6FA-4351-AB2C-972F1FDA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857750" cy="259080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5E7D3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3130F-B781-4A04-8C98-AB3A7088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8892F"/>
                </a:solidFill>
              </a:defRPr>
            </a:pPr>
            <a:r>
              <a:rPr sz="2325" b="1">
                <a:solidFill>
                  <a:srgbClr val="D8892F"/>
                </a:solidFill>
              </a:rPr>
              <a:t>Qwen 3.5 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86509-7558-4FE3-A5F2-EE26BB97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Main open-source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ECBD1-0385-4AF1-B84F-165A7DCE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62"/>
                </a:solidFill>
              </a:defRPr>
            </a:pPr>
            <a:r>
              <a:rPr sz="1350" b="0">
                <a:solidFill>
                  <a:srgbClr val="5D6862"/>
                </a:solidFill>
              </a:rPr>
              <a:t>Larger model with stronger language understanding.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E9751-107D-408A-A7FD-F4DC880D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4857750" cy="259080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90D37-5067-473B-B143-03BCBF5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8892F"/>
                </a:solidFill>
              </a:defRPr>
            </a:pPr>
            <a:r>
              <a:rPr sz="2325" b="1">
                <a:solidFill>
                  <a:srgbClr val="D8892F"/>
                </a:solidFill>
              </a:rPr>
              <a:t>Qwen 3.5 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A0992-64F5-4DEF-BA0A-4C7C3A5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A16"/>
                </a:solidFill>
              </a:defRPr>
            </a:pPr>
            <a:r>
              <a:rPr sz="1575" b="1">
                <a:solidFill>
                  <a:srgbClr val="111A16"/>
                </a:solidFill>
              </a:rPr>
              <a:t>Smaller comparison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C32E7-D1EC-4C67-A988-FEC68701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62"/>
                </a:solidFill>
              </a:defRPr>
            </a:pPr>
            <a:r>
              <a:rPr sz="1350" b="0">
                <a:solidFill>
                  <a:srgbClr val="5D6862"/>
                </a:solidFill>
              </a:rPr>
              <a:t>Lower memory use and faster local inference.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F5C97-3234-46D2-876C-EDC92D6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862"/>
                </a:solidFill>
              </a:defRPr>
            </a:pPr>
            <a:r>
              <a:rPr sz="1125" b="1">
                <a:solidFill>
                  <a:srgbClr val="5D6862"/>
                </a:solidFill>
              </a:rPr>
              <a:t>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32540-0133-400D-8BE3-C0722518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16"/>
                </a:solidFill>
              </a:defRPr>
            </a:pPr>
            <a:r>
              <a:rPr sz="1500" b="1">
                <a:solidFill>
                  <a:srgbClr val="111A16"/>
                </a:solidFill>
              </a:rPr>
              <a:t>None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B43DE-1121-4CE4-9C61-89770468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62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862"/>
                </a:solidFill>
              </a:defRPr>
            </a:pPr>
            <a:r>
              <a:rPr sz="1125" b="1">
                <a:solidFill>
                  <a:srgbClr val="5D6862"/>
                </a:solidFill>
              </a:rPr>
              <a:t>Quantization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E500B-AFC6-4C2F-8975-A70A8893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67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16"/>
                </a:solidFill>
              </a:defRPr>
            </a:pPr>
            <a:r>
              <a:rPr sz="1500" b="1">
                <a:solidFill>
                  <a:srgbClr val="111A16"/>
                </a:solidFill>
              </a:rPr>
              <a:t>4-bit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8765A-9ADF-43F3-A698-5BDD6E5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862"/>
                </a:solidFill>
              </a:defRPr>
            </a:pPr>
            <a:r>
              <a:rPr sz="1125" b="1">
                <a:solidFill>
                  <a:srgbClr val="5D6862"/>
                </a:solidFill>
              </a:rPr>
              <a:t>Test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729C5-FF72-46FD-BB21-2F689DBA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67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16"/>
                </a:solidFill>
              </a:defRPr>
            </a:pPr>
            <a:r>
              <a:rPr sz="1500" b="1">
                <a:solidFill>
                  <a:srgbClr val="111A16"/>
                </a:solidFill>
              </a:rPr>
              <a:t>Same 100 questions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7F45ED-7753-4A72-9D88-FC135998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862"/>
                </a:solidFill>
              </a:defRPr>
            </a:pPr>
            <a:r>
              <a:rPr sz="1125" b="1">
                <a:solidFill>
                  <a:srgbClr val="5D6862"/>
                </a:solidFill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413AA-D67A-407B-9DDF-8282C97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67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16"/>
                </a:solidFill>
              </a:defRPr>
            </a:pPr>
            <a:r>
              <a:rPr sz="1500" b="1">
                <a:solidFill>
                  <a:srgbClr val="111A16"/>
                </a:solidFill>
              </a:rPr>
              <a:t>One JSON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CFED3-D21A-40F6-B79E-95D3B791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2489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E7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F8A12-D3F4-44A0-92E5-11D929CA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982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892F"/>
                </a:solidFill>
              </a:defRPr>
            </a:pPr>
            <a:r>
              <a:rPr sz="1275" b="1">
                <a:solidFill>
                  <a:srgbClr val="D8892F"/>
                </a:solidFill>
              </a:rPr>
              <a:t>Testing two sizes shows how much model capacity matters for this task.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42289-8DB9-405B-8779-97FDAF82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575220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3FEA98-25D2-4D43-ACEF-5350CF0F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892F"/>
                </a:solidFill>
              </a:defRPr>
            </a:pPr>
            <a:r>
              <a:rPr sz="975" b="1">
                <a:solidFill>
                  <a:srgbClr val="D8892F"/>
                </a:solidFill>
              </a:rPr>
              <a:t>HANNY | BASE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5C6B5-E888-4EC5-A619-03EC674F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Base Qwen: Steps Performed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D4F76-E2C1-4932-A05F-AE434D80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EACC0-AF08-4F91-BEFA-4EFDD23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0E959-5148-4A2D-8ACB-5A6150DB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92F"/>
                </a:solidFill>
              </a:defRPr>
            </a:pPr>
            <a:r>
              <a:rPr sz="1275" b="1">
                <a:solidFill>
                  <a:srgbClr val="D8892F"/>
                </a:solidFill>
              </a:rPr>
              <a:t>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A5885-7F00-4531-9576-21115CD6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76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Qwen 3.5 9B and 4B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67714-C5FA-4C43-A56F-17B0B414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0FAFA-0134-4A7C-B16E-C44EB778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92F"/>
                </a:solidFill>
              </a:defRPr>
            </a:pPr>
            <a:r>
              <a:rPr sz="1275" b="1">
                <a:solidFill>
                  <a:srgbClr val="D8892F"/>
                </a:solidFill>
              </a:rPr>
              <a:t>Quantization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0B74A-3AFE-4807-8ED5-F4A63B2F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4-bit for both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71E39-4E97-4E3E-A4DC-E51A9AB4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1E847-B48C-4E5E-8362-76EC93D3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92F"/>
                </a:solidFill>
              </a:defRPr>
            </a:pPr>
            <a:r>
              <a:rPr sz="1275" b="1">
                <a:solidFill>
                  <a:srgbClr val="D8892F"/>
                </a:solidFill>
              </a:rPr>
              <a:t>Temperature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D6A59-743D-4F25-A3D7-A0ECA773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527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0.0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AF0CE-B234-4C71-8D63-7E3861F2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99C84-38F7-4B52-BBCC-39C43240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92F"/>
                </a:solidFill>
              </a:defRPr>
            </a:pPr>
            <a:r>
              <a:rPr sz="1275" b="1">
                <a:solidFill>
                  <a:srgbClr val="D8892F"/>
                </a:solidFill>
              </a:rPr>
              <a:t>Maximum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4C019-59E4-49F4-B873-5A6B5087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512 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B4E12-1CB5-48F3-A848-8DA10AEF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190F5-38C0-4699-BBFB-2D9F23FF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92F"/>
                </a:solidFill>
              </a:defRPr>
            </a:pPr>
            <a:r>
              <a:rPr sz="1275" b="1">
                <a:solidFill>
                  <a:srgbClr val="D8892F"/>
                </a:solidFill>
              </a:rPr>
              <a:t>Test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69D15-186E-4974-BDEF-EA6452AC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29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100 untouched questions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CDDBE-DC34-4871-AB14-EB55D371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0CDB8-3D63-4461-89D6-104FC133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92F"/>
                </a:solidFill>
              </a:defRPr>
            </a:pPr>
            <a:r>
              <a:rPr sz="1275" b="1">
                <a:solidFill>
                  <a:srgbClr val="D8892F"/>
                </a:solidFill>
              </a:rPr>
              <a:t>Main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EDB41-1472-4793-8AA4-FDB342FA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Full-plan exact 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3577D-A8EF-4688-8151-5722F986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195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E697E-1583-4770-A1FD-D54819D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76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89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0F5629-53B9-4BD9-9082-C0A06ADA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76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89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BE03B-74ED-47DD-B1E2-5C7817F6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89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B64A0-26A6-4E27-89F3-A6C1DDC4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76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89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057A12-1C11-47D2-9F10-C52A9F32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42875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5E7D3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11B49-1532-4535-8E14-E79B983F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892F"/>
                </a:solidFill>
              </a:defRPr>
            </a:pPr>
            <a:r>
              <a:rPr sz="975" b="1">
                <a:solidFill>
                  <a:srgbClr val="D8892F"/>
                </a:solidFill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0EF59-07D7-4815-86EA-9123A054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Generate plan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3F225E-E723-42BC-980D-D58F3E09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76750"/>
            <a:ext cx="142875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BC4ECC-51F3-4E9D-B3E0-6782C7E8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29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892F"/>
                </a:solidFill>
              </a:defRPr>
            </a:pPr>
            <a:r>
              <a:rPr sz="975" b="1">
                <a:solidFill>
                  <a:srgbClr val="D8892F"/>
                </a:solidFill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ED8426-AF09-45E2-AF1B-823883A6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Validate 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0AA235-D675-4FCC-96DB-9DDD0359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76750"/>
            <a:ext cx="142875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668A77-E016-4CFC-A793-528192E3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892F"/>
                </a:solidFill>
              </a:defRPr>
            </a:pPr>
            <a:r>
              <a:rPr sz="975" b="1">
                <a:solidFill>
                  <a:srgbClr val="D8892F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F66E89-FA0A-4098-B21E-81901D0D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Execute 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297AAA-85F0-4A65-B568-014B0537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76750"/>
            <a:ext cx="142875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8A97EE-5A52-4B52-9FBF-76A7C273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29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892F"/>
                </a:solidFill>
              </a:defRPr>
            </a:pPr>
            <a:r>
              <a:rPr sz="975" b="1">
                <a:solidFill>
                  <a:srgbClr val="D8892F"/>
                </a:solidFill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8C24AC-F458-4EBC-8FC1-09993508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53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Save answer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769669-2F6A-4EE5-82FD-620804ED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76750"/>
            <a:ext cx="142875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A92417-BD79-4B01-BE44-D8517306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29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892F"/>
                </a:solidFill>
              </a:defRPr>
            </a:pPr>
            <a:r>
              <a:rPr sz="975" b="1">
                <a:solidFill>
                  <a:srgbClr val="D8892F"/>
                </a:solidFill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0B9925-1706-4C16-9867-64507832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530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A16"/>
                </a:solidFill>
              </a:defRPr>
            </a:pPr>
            <a:r>
              <a:rPr sz="1200" b="1">
                <a:solidFill>
                  <a:srgbClr val="111A16"/>
                </a:solidFill>
              </a:rPr>
              <a:t>Score 100 cases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B54706-49AE-4AB6-AE68-2CD03490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E7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205404-D2F4-43C6-8843-29E7E626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892F"/>
                </a:solidFill>
              </a:defRPr>
            </a:pPr>
            <a:r>
              <a:rPr sz="1275" b="1">
                <a:solidFill>
                  <a:srgbClr val="D8892F"/>
                </a:solidFill>
              </a:rPr>
              <a:t>All downstream CricAtlas components remain unchanged.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CDEE7B-1E40-466E-8320-37062CA0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466146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D3923-77BE-4BED-988F-D78A66F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892F"/>
                </a:solidFill>
              </a:defRPr>
            </a:pPr>
            <a:r>
              <a:rPr sz="975" b="1">
                <a:solidFill>
                  <a:srgbClr val="D8892F"/>
                </a:solidFill>
              </a:rPr>
              <a:t>HANNY | BASE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590C9-D6F2-48F0-8916-B5BAA7B4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Zero-Shot Qwen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7E2DC-AA41-4489-A627-1F61CBAD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9384E-F277-4EBF-B393-CAFE0C8E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1870C-824F-4007-A98D-052A3551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E7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892F"/>
                </a:solidFill>
              </a:defRPr>
            </a:pPr>
            <a:r>
              <a:rPr sz="1050" b="1">
                <a:solidFill>
                  <a:srgbClr val="D8892F"/>
                </a:solidFill>
              </a:rPr>
              <a:t>WORKING SCORES FOR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76F8D-99B7-4906-BDB5-474C6D02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8892F"/>
                </a:solidFill>
              </a:defRPr>
            </a:pPr>
            <a:r>
              <a:rPr sz="3150" b="1">
                <a:solidFill>
                  <a:srgbClr val="D8892F"/>
                </a:solidFill>
              </a:rPr>
              <a:t>43 /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8C9E9-BAED-46C2-B250-F07F99BC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Qwen 3.5 9B plans correct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35E9E-58E9-4C1E-A578-68F29898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8892F"/>
                </a:solidFill>
              </a:defRPr>
            </a:pPr>
            <a:r>
              <a:rPr sz="3150" b="1">
                <a:solidFill>
                  <a:srgbClr val="D8892F"/>
                </a:solidFill>
              </a:rPr>
              <a:t>34 / 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4C1D1-1B24-4D5A-B95B-9285FEAC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Qwen 3.5 4B plans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92375-F54E-4238-B3F1-AA313004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5B42"/>
                </a:solidFill>
              </a:defRPr>
            </a:pPr>
            <a:r>
              <a:rPr sz="2550" b="1">
                <a:solidFill>
                  <a:srgbClr val="155B42"/>
                </a:solidFill>
              </a:rPr>
              <a:t>+9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D0BCB-0ECD-4922-84E1-D4DBC501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62"/>
                </a:solidFill>
              </a:defRPr>
            </a:pPr>
            <a:r>
              <a:rPr sz="1275" b="0">
                <a:solidFill>
                  <a:srgbClr val="5D6862"/>
                </a:solidFill>
              </a:rPr>
              <a:t>more correct plans from the 9B model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514850" y="1809750"/>
          <a:ext xmlns:a="http://schemas.openxmlformats.org/drawingml/2006/main" cx="628650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924a0de983407b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940F5-11AC-4526-A0FA-7322CD04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76850"/>
            <a:ext cx="62865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E539E-5968-49DC-B87D-A1D5E0C2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48300"/>
            <a:ext cx="582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16"/>
                </a:solidFill>
              </a:defRPr>
            </a:pPr>
            <a:r>
              <a:rPr sz="1275" b="0">
                <a:solidFill>
                  <a:srgbClr val="111A16"/>
                </a:solidFill>
              </a:rPr>
              <a:t>The 9B model handled more varied wording. The 4B model made more metric and filter mistakes.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6B417-77A9-4570-92E5-1ADCDDDA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2"/>
                </a:solidFill>
              </a:defRPr>
            </a:pPr>
            <a:r>
              <a:rPr sz="750" b="0">
                <a:solidFill>
                  <a:srgbClr val="5D6862"/>
                </a:solidFill>
              </a:rPr>
              <a:t>Working values chosen for the presentation.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B61AC-317A-4093-A60B-B5BF2B45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18217829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0D87B-D143-4DA9-AFC0-AED8BDC6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673"/>
                </a:solidFill>
              </a:defRPr>
            </a:pPr>
            <a:r>
              <a:rPr sz="975" b="1">
                <a:solidFill>
                  <a:srgbClr val="2D6673"/>
                </a:solidFill>
              </a:rPr>
              <a:t>PARIMAL | FINE-TUNED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6771-F7F7-4D65-8DF0-5CD9454B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How We Fine-Tuned Qwen 3.5 9B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C51A2-67F3-4156-BFA8-69344CAB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8BC24-5BFD-4E47-8C34-B8E756CE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E68C6-F094-4D1B-A391-02B46C47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673"/>
                </a:solidFill>
              </a:defRPr>
            </a:pPr>
            <a:r>
              <a:rPr sz="1800" b="1">
                <a:solidFill>
                  <a:srgbClr val="2D6673"/>
                </a:solidFill>
              </a:rPr>
              <a:t>Same base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ECC51-FC8B-47C1-AEFD-8832F855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A16"/>
                </a:solidFill>
              </a:defRPr>
            </a:pPr>
            <a:r>
              <a:rPr sz="2100" b="1">
                <a:solidFill>
                  <a:srgbClr val="111A16"/>
                </a:solidFill>
              </a:rPr>
              <a:t>Qwen 3.5 9B Instruct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7713D-5C13-411E-B7B9-50CAB62B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146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5DF9F-58CB-415D-86AC-FBE54387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95450"/>
            <a:ext cx="565785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E2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155F6-BB0E-4154-B8FD-CE45F4C2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62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6673"/>
                </a:solidFill>
              </a:defRPr>
            </a:pPr>
            <a:r>
              <a:rPr sz="1875" b="1">
                <a:solidFill>
                  <a:srgbClr val="2D6673"/>
                </a:solidFill>
              </a:rPr>
              <a:t>Task-specific QLoRA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C6D8E-4D43-4394-8D0E-E184E85C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A16"/>
                </a:solidFill>
              </a:defRPr>
            </a:pPr>
            <a:r>
              <a:rPr sz="1350" b="0">
                <a:solidFill>
                  <a:srgbClr val="111A16"/>
                </a:solidFill>
              </a:rPr>
              <a:t>Train adapters on cricket questions paired with the correct CricAtlas JSON plans.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4AD22-1344-477A-BF9B-5C789F2A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11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2F10E-8197-41DB-B9AB-5D54371E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05DFC-92D7-4AC9-8F13-AF6EFB6E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Unchanged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29CF4-CBB5-4A3F-8157-A03DBFA0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741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Base model, JSON format, validation, SQL, database, and test 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432AA-A9E1-499C-8AD3-9D573CBC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B14E2-EEF3-4620-BE60-6B63130E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Added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BF004-5BED-4490-B8E3-3409391F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29150"/>
            <a:ext cx="741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800 synthetic training examples and 100 validation examples.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07AFE-0822-4962-BD45-D61F3B9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E4C34-C7B0-451F-9C98-82ABC35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Learning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949AA-05BD-497F-8399-60E2A112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7410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The complete executable CricAtlas JSON plan.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226B2-B71E-49EA-AC7E-C2CA4706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7984846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F36375-10A3-4CB8-88D2-05F2A0E4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673"/>
                </a:solidFill>
              </a:defRPr>
            </a:pPr>
            <a:r>
              <a:rPr sz="975" b="1">
                <a:solidFill>
                  <a:srgbClr val="2D6673"/>
                </a:solidFill>
              </a:rPr>
              <a:t>PARIMAL | FINE-TUNED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DD0CE-A6ED-4D7C-854F-48D4E957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How We Created the Fine-Tuning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BBF6F-95A2-468B-954F-77BBD2F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89F13-1BFC-4333-8417-059A606A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7DABB-2D12-4E4D-8695-CADB0E28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6673"/>
                </a:solidFill>
              </a:defRPr>
            </a:pPr>
            <a:r>
              <a:rPr sz="3150" b="1">
                <a:solidFill>
                  <a:srgbClr val="2D6673"/>
                </a:solidFill>
              </a:rPr>
              <a:t>800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FDDE6-E56C-41A2-9D5E-4B45440E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training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DFD3E-2207-4699-B737-13CD74E0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6673"/>
                </a:solidFill>
              </a:defRPr>
            </a:pPr>
            <a:r>
              <a:rPr sz="3150" b="1">
                <a:solidFill>
                  <a:srgbClr val="2D6673"/>
                </a:solidFill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76D46-29C8-4B9F-8C09-1E0A6507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288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validation examples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D8768-020E-4908-94C0-C81D7B32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63D35"/>
                </a:solidFill>
              </a:defRPr>
            </a:pPr>
            <a:r>
              <a:rPr sz="3150" b="1">
                <a:solidFill>
                  <a:srgbClr val="A63D35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E6859-2865-48C2-B7B6-58E46D7D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test questions used in training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6B96D-83E9-4B24-B27E-9F557D8E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24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22C28-29F2-4C3B-9509-B1D16B13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324100" cy="2228850"/>
          </a:xfrm>
          <a:prstGeom xmlns:a="http://schemas.openxmlformats.org/drawingml/2006/main" prst="roundRect">
            <a:avLst>
              <a:gd name="adj" fmla="val 2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0D43A-A578-4015-BC4A-382970BF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673"/>
                </a:solidFill>
              </a:defRPr>
            </a:pPr>
            <a:r>
              <a:rPr sz="1800" b="1">
                <a:solidFill>
                  <a:srgbClr val="2D6673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47439-7494-4B8F-A8CD-B3754575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16"/>
                </a:solidFill>
              </a:defRPr>
            </a:pPr>
            <a:r>
              <a:rPr sz="1500" b="1">
                <a:solidFill>
                  <a:srgbClr val="111A16"/>
                </a:solidFill>
              </a:rPr>
              <a:t>Choose a question 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61B65-9BCD-4397-8A45-97BF484A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Metric, leaderboard, breakdown, comparison, split, or matchup.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53957-6BC7-45DA-9D5E-9ACB7602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00400"/>
            <a:ext cx="2324100" cy="2228850"/>
          </a:xfrm>
          <a:prstGeom xmlns:a="http://schemas.openxmlformats.org/drawingml/2006/main" prst="roundRect">
            <a:avLst>
              <a:gd name="adj" fmla="val 2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060FF-FE5E-45F0-8FF5-670B0D0C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71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673"/>
                </a:solidFill>
              </a:defRPr>
            </a:pPr>
            <a:r>
              <a:rPr sz="1800" b="1">
                <a:solidFill>
                  <a:srgbClr val="2D667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24C1B-10A5-4696-A26B-9F23F8ED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671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16"/>
                </a:solidFill>
              </a:defRPr>
            </a:pPr>
            <a:r>
              <a:rPr sz="1500" b="1">
                <a:solidFill>
                  <a:srgbClr val="111A16"/>
                </a:solidFill>
              </a:rPr>
              <a:t>Vary the wording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279A0-DD09-4437-B113-E4D007A7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148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Change players, metrics, filters, and the way the question is asked.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AA2A3-674D-4FB4-970E-8A504782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0400"/>
            <a:ext cx="2324100" cy="2228850"/>
          </a:xfrm>
          <a:prstGeom xmlns:a="http://schemas.openxmlformats.org/drawingml/2006/main" prst="roundRect">
            <a:avLst>
              <a:gd name="adj" fmla="val 2137"/>
            </a:avLst>
          </a:prstGeom>
          <a:solidFill xmlns:a="http://schemas.openxmlformats.org/drawingml/2006/main">
            <a:srgbClr val="E2EDF0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257C8-B53C-43E0-AB96-4AF4172F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673"/>
                </a:solidFill>
              </a:defRPr>
            </a:pPr>
            <a:r>
              <a:rPr sz="1800" b="1">
                <a:solidFill>
                  <a:srgbClr val="2D6673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C5379-3CD1-4F4D-B9AF-94A1B131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16"/>
                </a:solidFill>
              </a:defRPr>
            </a:pPr>
            <a:r>
              <a:rPr sz="1500" b="1">
                <a:solidFill>
                  <a:srgbClr val="111A16"/>
                </a:solidFill>
              </a:rPr>
              <a:t>Create the JSON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56FF4-5E10-4A85-8ED0-1F24EDE8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Store the complete executable plan for the question.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14F74E-ED55-4736-9540-E448C47C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00400"/>
            <a:ext cx="2324100" cy="2228850"/>
          </a:xfrm>
          <a:prstGeom xmlns:a="http://schemas.openxmlformats.org/drawingml/2006/main" prst="roundRect">
            <a:avLst>
              <a:gd name="adj" fmla="val 2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2BC3B-1772-4ED0-A43F-424EF50C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673"/>
                </a:solidFill>
              </a:defRPr>
            </a:pPr>
            <a:r>
              <a:rPr sz="1800" b="1">
                <a:solidFill>
                  <a:srgbClr val="2D6673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E83C7-6FB6-4561-87FB-A5F5A6F7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16"/>
                </a:solidFill>
              </a:defRPr>
            </a:pPr>
            <a:r>
              <a:rPr sz="1500" b="1">
                <a:solidFill>
                  <a:srgbClr val="111A16"/>
                </a:solidFill>
              </a:rPr>
              <a:t>Check and split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3BCBB0-2C29-41E1-84D8-A07CD875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148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Validate every plan, then separate training and validation examples.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1C23B6-49DA-4886-9B4B-07A99780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2489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2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41251-8036-4E8A-89CA-B8007DCA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982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D6673"/>
                </a:solidFill>
              </a:defRPr>
            </a:pPr>
            <a:r>
              <a:rPr sz="1275" b="1">
                <a:solidFill>
                  <a:srgbClr val="2D6673"/>
                </a:solidFill>
              </a:rPr>
              <a:t>The final 100 test questions were kept separate from these examples.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66E85B-5FC0-4062-8685-E5D0FCD3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42387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946DAC-3D8D-4A9C-9890-188B702F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673"/>
                </a:solidFill>
              </a:defRPr>
            </a:pPr>
            <a:r>
              <a:rPr sz="975" b="1">
                <a:solidFill>
                  <a:srgbClr val="2D6673"/>
                </a:solidFill>
              </a:rPr>
              <a:t>PARIMAL | FINE-TUNED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2487B-B833-488D-9321-01A18B7E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QLoRA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B9CD8-A146-4AEF-88ED-8EC35AD6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3AFA1-89E6-4759-B764-C5D04C53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09C53-0F09-4A42-BE14-1D469596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673"/>
                </a:solidFill>
              </a:defRPr>
            </a:pPr>
            <a:r>
              <a:rPr sz="1800" b="1">
                <a:solidFill>
                  <a:srgbClr val="2D6673"/>
                </a:solidFill>
              </a:rPr>
              <a:t>Adapter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C6947-4820-4F0A-B31C-0DB32A72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Quantization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414EE-8E25-4109-8F1E-1985729A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52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4-bit NF4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6F52E-2193-4F92-976C-05A8D23C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83D34-628D-4D9A-B786-4091F555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Target layers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E0EFA-E85D-4937-AA7F-64C72716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81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q_proj, k_proj, v_proj, o_proj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D049C-F2A2-4DA4-92EF-C4C8DCB7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6C0A8-2830-43C4-B258-FFD363D8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LoRA rank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FF4AD-30D0-44D4-8F4D-4EA2D61B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09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7894B-8F22-49CF-BB98-2B76AD81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7976A-FF86-4EBC-99F0-8987344C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LoRA alpha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41A44-617E-402E-AA43-899E337F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38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BDEA5-D450-40C6-A7CD-E72AD58F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A619C-7455-43A9-BA99-2B73F37B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LoRA dropout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29C2E-BEC9-4226-A312-4B8A77A1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67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0.05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FEA93-F647-4DC7-B432-CC76F2AF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5479F-9F7E-48B2-A381-6883F880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673"/>
                </a:solidFill>
              </a:defRPr>
            </a:pPr>
            <a:r>
              <a:rPr sz="1800" b="1">
                <a:solidFill>
                  <a:srgbClr val="2D6673"/>
                </a:solidFill>
              </a:rPr>
              <a:t>Training settings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B1D33-6626-4A21-976B-ED332AD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Epochs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F14DD-B25F-4A20-B895-883A7F80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45119-D425-4954-B45C-A53A3B5B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3BA55-5FBE-4D41-8A91-433A777A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Learning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66FDA-F568-4F0C-B3FB-15497C3D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86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2 × 10⁻⁴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268F2-D391-427D-A794-E039B980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F918B-1B28-4410-91C9-0B92F1ED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Maximum length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F84D76-A541-48B1-8A5F-8293E131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19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1,024 tokens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7E7B8-A29F-45CE-A7A4-0ECEC8D2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548076-C7CA-4E55-8228-E6C0CC69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Effective batch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120A48-0E7E-4D49-AD60-412B1720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59A0CE-48A1-4272-9AFF-6532D95B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5DDE68-61A6-4B54-85B3-25121103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Optimizer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0AF9B0-53EB-4340-A2B4-5096C64E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86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Paged AdamW 8-bit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698670-F735-478E-B737-7F30A9F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7CB1F8-BFAF-48EC-B408-716F273D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862"/>
                </a:solidFill>
              </a:defRPr>
            </a:pPr>
            <a:r>
              <a:rPr sz="1200" b="1">
                <a:solidFill>
                  <a:srgbClr val="5D6862"/>
                </a:solidFill>
              </a:rPr>
              <a:t>Warmup / seed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70F0AF-BBA5-4A9F-B2E9-890F1A5D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16"/>
                </a:solidFill>
              </a:defRPr>
            </a:pPr>
            <a:r>
              <a:rPr sz="1350" b="1">
                <a:solidFill>
                  <a:srgbClr val="111A16"/>
                </a:solidFill>
              </a:rPr>
              <a:t>5% / 42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C8541-BDF8-4605-8E39-DFE78598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75643C-8004-4563-9986-BBDC1A3C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2679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2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90BF32-6420-4AD4-A2C2-74F4D766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D6673"/>
                </a:solidFill>
              </a:defRPr>
            </a:pPr>
            <a:r>
              <a:rPr sz="1275" b="1">
                <a:solidFill>
                  <a:srgbClr val="2D6673"/>
                </a:solidFill>
              </a:rPr>
              <a:t>Checkpoint selection: best JSON-plan score on the 100-example validation set.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CEAC31-8B70-4671-95EB-CCB00A11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9471444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07F04-B36C-4493-A145-D6651C87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673"/>
                </a:solidFill>
              </a:defRPr>
            </a:pPr>
            <a:r>
              <a:rPr sz="975" b="1">
                <a:solidFill>
                  <a:srgbClr val="2D6673"/>
                </a:solidFill>
              </a:rPr>
              <a:t>PARIMAL | FINE-TUNED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C6A61-8594-4909-B84C-CECC67E2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Fine-Tuned Qwen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F58AC-39C2-46EF-ACD0-B7C60C44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44CDC-E3C6-4A96-8670-BA20D54D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FC517-4E33-45EA-B613-4A51B177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2ED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6673"/>
                </a:solidFill>
              </a:defRPr>
            </a:pPr>
            <a:r>
              <a:rPr sz="1050" b="1">
                <a:solidFill>
                  <a:srgbClr val="2D6673"/>
                </a:solidFill>
              </a:rPr>
              <a:t>WORKING SCORE FOR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FE2A7-389C-45ED-8DC8-85E05174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6673"/>
                </a:solidFill>
              </a:defRPr>
            </a:pPr>
            <a:r>
              <a:rPr sz="3150" b="1">
                <a:solidFill>
                  <a:srgbClr val="2D6673"/>
                </a:solidFill>
              </a:rPr>
              <a:t>53 /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29A71-C061-407A-8551-BE1C3CAD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fine-tuned Qwen plans correct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49328-F65F-4BE0-8B78-5485E027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5B42"/>
                </a:solidFill>
              </a:defRPr>
            </a:pPr>
            <a:r>
              <a:rPr sz="3150" b="1">
                <a:solidFill>
                  <a:srgbClr val="155B42"/>
                </a:solidFill>
              </a:rPr>
              <a:t>+10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DCF9D-69EF-4C60-BFF2-E30F1E4C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more correct plans than base Qwen 9B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A2CE4-33CE-4CD5-BD5E-C660DE9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862"/>
                </a:solidFill>
              </a:defRPr>
            </a:pPr>
            <a:r>
              <a:rPr sz="1350" b="0">
                <a:solidFill>
                  <a:srgbClr val="5D6862"/>
                </a:solidFill>
              </a:rPr>
              <a:t>Still 6 points below CricAtlas + Gemini.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514850" y="1809750"/>
          <a:ext xmlns:a="http://schemas.openxmlformats.org/drawingml/2006/main" cx="628650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5ace22e5944829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81F4E-514E-486B-A7D9-C426D095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76850"/>
            <a:ext cx="62865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2E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5437A-1156-4785-9A31-3C6DEB43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48300"/>
            <a:ext cx="582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A16"/>
                </a:solidFill>
              </a:defRPr>
            </a:pPr>
            <a:r>
              <a:rPr sz="1275" b="0">
                <a:solidFill>
                  <a:srgbClr val="111A16"/>
                </a:solidFill>
              </a:rPr>
              <a:t>Fine-tuning improved the model's use of operations, player roles, metrics, and filters.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B0F07-DB5F-4F7F-802F-2F7FAD2B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2"/>
                </a:solidFill>
              </a:defRPr>
            </a:pPr>
            <a:r>
              <a:rPr sz="750" b="0">
                <a:solidFill>
                  <a:srgbClr val="5D6862"/>
                </a:solidFill>
              </a:rPr>
              <a:t>Working value chosen for the presentation.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3363F-AAB4-4644-A9B0-8B9BF06C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874176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827A5-66AD-47C6-8B80-E21D75BB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B42"/>
                </a:solidFill>
              </a:defRPr>
            </a:pPr>
            <a:r>
              <a:rPr sz="975" b="1">
                <a:solidFill>
                  <a:srgbClr val="155B42"/>
                </a:solidFill>
              </a:rPr>
              <a:t>SAMAY |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108F4-B415-432C-9B6E-B6164322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A16"/>
                </a:solidFill>
              </a:defRPr>
            </a:pPr>
            <a:r>
              <a:rPr sz="2700" b="1">
                <a:solidFill>
                  <a:srgbClr val="111A16"/>
                </a:solidFill>
              </a:rPr>
              <a:t>Plan Accuracy Across All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B30AA-CE2F-4729-BB13-05F6875D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862"/>
                </a:solidFill>
              </a:defRPr>
            </a:pPr>
            <a:r>
              <a:rPr sz="975" b="1">
                <a:solidFill>
                  <a:srgbClr val="5D6862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BCA04-992D-4820-BD4E-EFFEE25B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A1E30-A1D9-408D-B612-4E91D8D7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B42"/>
                </a:solidFill>
              </a:defRPr>
            </a:pPr>
            <a:r>
              <a:rPr sz="1050" b="1">
                <a:solidFill>
                  <a:srgbClr val="155B42"/>
                </a:solidFill>
              </a:rPr>
              <a:t>FULL-PLAN EXACT MATCH OUT OF 100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70294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91410ff172448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7AD15-B3FD-4CD0-A8AE-AD278CAB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5B42"/>
                </a:solidFill>
              </a:defRPr>
            </a:pPr>
            <a:r>
              <a:rPr sz="1725" b="1">
                <a:solidFill>
                  <a:srgbClr val="155B42"/>
                </a:solidFill>
              </a:rPr>
              <a:t>Main findings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60152-1406-440D-AF34-B3087B93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892F"/>
                </a:solidFill>
              </a:defRPr>
            </a:pPr>
            <a:r>
              <a:rPr sz="1200" b="1">
                <a:solidFill>
                  <a:srgbClr val="D8892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0F2D6-E373-4D05-ADEC-30A7DF58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A16"/>
                </a:solidFill>
              </a:defRPr>
            </a:pPr>
            <a:r>
              <a:rPr sz="1425" b="1">
                <a:solidFill>
                  <a:srgbClr val="111A16"/>
                </a:solidFill>
              </a:rPr>
              <a:t>Gemini scored highest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8E041-7AEF-4513-8A3C-2B86EEC3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59 correct plans.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73BFB-FCA4-40A1-94C4-A84CE2C6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57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673"/>
                </a:solidFill>
              </a:defRPr>
            </a:pPr>
            <a:r>
              <a:rPr sz="1200" b="1">
                <a:solidFill>
                  <a:srgbClr val="2D667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B4F28-AE74-46E8-91B2-25BC20C7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A16"/>
                </a:solidFill>
              </a:defRPr>
            </a:pPr>
            <a:r>
              <a:rPr sz="1425" b="1">
                <a:solidFill>
                  <a:srgbClr val="111A16"/>
                </a:solidFill>
              </a:rPr>
              <a:t>QLoRA helped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93540-6AF4-492B-B1FB-BC24AED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814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53 compared with 43 for base Qwen 9B.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DEB0F-1EA0-471B-B06A-BE279D27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672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892F"/>
                </a:solidFill>
              </a:defRPr>
            </a:pPr>
            <a:r>
              <a:rPr sz="1200" b="1">
                <a:solidFill>
                  <a:srgbClr val="D8892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D54B3-F86A-4758-A4F8-E9D7830C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48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A16"/>
                </a:solidFill>
              </a:defRPr>
            </a:pPr>
            <a:r>
              <a:rPr sz="1425" b="1">
                <a:solidFill>
                  <a:srgbClr val="111A16"/>
                </a:solidFill>
              </a:rPr>
              <a:t>Model size mattered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3EB77-16E0-459F-BC14-E5961D8E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91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862"/>
                </a:solidFill>
              </a:defRPr>
            </a:pPr>
            <a:r>
              <a:rPr sz="1200" b="0">
                <a:solidFill>
                  <a:srgbClr val="5D6862"/>
                </a:solidFill>
              </a:rPr>
              <a:t>Qwen 9B scored above Qwen 4B.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C4AEE-0D27-493F-AE65-13AF248C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81650"/>
            <a:ext cx="3048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D80DF-B05B-4DF1-B0C3-41CF8079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435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5B42"/>
                </a:solidFill>
              </a:defRPr>
            </a:pPr>
            <a:r>
              <a:rPr sz="1200" b="1">
                <a:solidFill>
                  <a:srgbClr val="155B42"/>
                </a:solidFill>
              </a:rPr>
              <a:t>Every model answered the same 100 questions.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C734B-3363-48D0-A42D-1602F78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62"/>
                </a:solidFill>
              </a:defRPr>
            </a:pPr>
            <a:r>
              <a:rPr sz="750" b="0">
                <a:solidFill>
                  <a:srgbClr val="5D6862"/>
                </a:solidFill>
              </a:rPr>
              <a:t>Presentation values; use the final full-plan scorer output in the report.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528B2-02F3-4E27-8B4B-14673C4A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D6862"/>
                </a:solidFill>
              </a:defRPr>
            </a:pPr>
            <a:r>
              <a:rPr sz="750" b="1">
                <a:solidFill>
                  <a:srgbClr val="5D6862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3833228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F6591-D2D1-4176-A40B-046B11C6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B42"/>
                </a:solidFill>
              </a:defRPr>
            </a:pPr>
            <a:r>
              <a:rPr sz="975" b="1">
                <a:solidFill>
                  <a:srgbClr val="155B42"/>
                </a:solidFill>
              </a:rPr>
              <a:t>TEAM |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A19E5-E3A5-468C-AACD-F9DD29DC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Team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264DC-B4D8-4BBF-9770-38E0F014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EAAA4"/>
                </a:solidFill>
              </a:defRPr>
            </a:pPr>
            <a:r>
              <a:rPr sz="975" b="1">
                <a:solidFill>
                  <a:srgbClr val="9EAAA4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8A69E-371B-409E-BC18-C00A4FF9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3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0C732-6904-4FB5-A377-9B3EC19C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892F"/>
                </a:solidFill>
              </a:defRPr>
            </a:pPr>
            <a:r>
              <a:rPr sz="1725" b="1">
                <a:solidFill>
                  <a:srgbClr val="D8892F"/>
                </a:solidFill>
              </a:rPr>
              <a:t>Project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BFC69-2CB2-46EC-AEEC-9F2E9190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CricAtlas converts natural-language cricket questions into validated query plans and database answers.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A806D-FB38-4455-892B-D1FAB384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A5D"/>
                </a:solidFill>
              </a:defRPr>
            </a:pPr>
            <a:r>
              <a:rPr sz="1050" b="1">
                <a:solidFill>
                  <a:srgbClr val="2F7A5D"/>
                </a:solidFill>
              </a:rPr>
              <a:t>SAMAY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CE057-DBF1-4EA6-8AFA-53AA5CAA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57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Complete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6C7B0-9221-4528-9BCC-A6E1C03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4BF"/>
                </a:solidFill>
              </a:defRPr>
            </a:pPr>
            <a:r>
              <a:rPr sz="1275" b="0">
                <a:solidFill>
                  <a:srgbClr val="B9C4BF"/>
                </a:solidFill>
              </a:rPr>
              <a:t>Question → JSON plan → SQL → DuckDB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F8D89-15D4-48CC-AA3D-622A1CF0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892F"/>
                </a:solidFill>
              </a:defRPr>
            </a:pPr>
            <a:r>
              <a:rPr sz="1050" b="1">
                <a:solidFill>
                  <a:srgbClr val="D8892F"/>
                </a:solidFill>
              </a:rPr>
              <a:t>HANNY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5F68B-D8D8-4323-9B36-D28E1F79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81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Model size mattered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D7C9B-7311-49FD-9B27-F8CBFC5C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4BF"/>
                </a:solidFill>
              </a:defRPr>
            </a:pPr>
            <a:r>
              <a:rPr sz="1275" b="0">
                <a:solidFill>
                  <a:srgbClr val="B9C4BF"/>
                </a:solidFill>
              </a:rPr>
              <a:t>Qwen 9B performed above Qwen 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9B63B-EC6E-4AB0-BE7A-F8ED0214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4AFC0"/>
                </a:solidFill>
              </a:defRPr>
            </a:pPr>
            <a:r>
              <a:rPr sz="1050" b="1">
                <a:solidFill>
                  <a:srgbClr val="74AFC0"/>
                </a:solidFill>
              </a:rPr>
              <a:t>PARIMAL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89266-A3BD-48E8-A24E-2E8F2BF0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05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Fine-tuning helped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EF5AF-4AC8-48C3-8D5C-B23FD3FE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054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4BF"/>
                </a:solidFill>
              </a:defRPr>
            </a:pPr>
            <a:r>
              <a:rPr sz="1275" b="0">
                <a:solidFill>
                  <a:srgbClr val="B9C4BF"/>
                </a:solidFill>
              </a:rPr>
              <a:t>QLoRA improved task-specific plan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23C83-B5A8-44CC-BCCF-4D76F674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8013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211F"/>
          </a:solidFill>
          <a:ln xmlns:a="http://schemas.openxmlformats.org/drawingml/2006/main" w="9525">
            <a:solidFill>
              <a:srgbClr val="2A37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671FA-ABD9-4920-9351-5DFAD09A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00750"/>
            <a:ext cx="1034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892F"/>
                </a:solidFill>
              </a:defRPr>
            </a:pPr>
            <a:r>
              <a:rPr sz="1275" b="1">
                <a:solidFill>
                  <a:srgbClr val="D8892F"/>
                </a:solidFill>
              </a:rPr>
              <a:t>Fine-tuning improved Qwen, but Gemini remained the strongest model on the 100-question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A7456-372D-428E-B0E1-8C64C90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F9B95"/>
                </a:solidFill>
              </a:defRPr>
            </a:pPr>
            <a:r>
              <a:rPr sz="750" b="1">
                <a:solidFill>
                  <a:srgbClr val="8F9B95"/>
                </a:solidFill>
              </a:rPr>
              <a:t>CRICATLAS | DL4NLP</a:t>
            </a:r>
          </a:p>
        </p:txBody>
      </p:sp>
    </p:spTree>
    <p:extLst>
      <p:ext uri="{BB962C8B-B14F-4D97-AF65-F5344CB8AC3E}">
        <p14:creationId xmlns:p14="http://schemas.microsoft.com/office/powerpoint/2010/main" val="168578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2026-07-23T23:33:00.9670000Z</dcterms:created>
  <dcterms:modified xsi:type="dcterms:W3CDTF">2026-07-23T23:33:00.9670000Z</dcterms:modified>
</coreProperties>
</file>